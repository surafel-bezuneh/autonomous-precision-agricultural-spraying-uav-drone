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embeddedFontLst>
    <p:embeddedFont>
      <p:font typeface="Roboto"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F8804F2B-6FA0-4BDC-AACF-A6849F047DD7}">
  <a:tblStyle styleId="{F8804F2B-6FA0-4BDC-AACF-A6849F047DD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0" d="100"/>
          <a:sy n="60" d="100"/>
        </p:scale>
        <p:origin x="-1456" y="-6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1570216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f784e78524_0_14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f784e78524_0_1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f784e78524_0_17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f784e78524_0_17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784e78524_0_17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784e78524_0_17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f784e78524_0_17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f784e78524_0_17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f784e78524_0_17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f784e78524_0_17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f784e78524_0_17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f784e78524_0_17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784e78524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784e78524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784e78524_0_1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f784e78524_0_1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f784e78524_0_1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f784e78524_0_1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f784e78524_17_26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f784e78524_17_2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f784e78524_17_26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f784e78524_17_2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784e78524_17_26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f784e78524_17_26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f784e78524_17_2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f784e78524_17_2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784e78524_17_26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784e78524_17_26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f784e78524_17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f784e78524_17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f784e78524_17_2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f784e78524_17_2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f784e78524_174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f784e78524_17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f784e78524_174_7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f784e78524_174_7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f784e78524_174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f784e78524_174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f784e78524_174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f784e78524_174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f784e78524_174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f784e78524_174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f784e78524_174_8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f784e78524_174_8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g3f784e78524_6_0)">
  <p:cSld name="Title and body (g3f784e78524_6_0)">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2" name="Google Shape;52;p1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g3f784e78524_16_0)">
  <p:cSld name="Title and body (g3f784e78524_16_0)">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6" name="Google Shape;56;p1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g3f784e78524_49_0)">
  <p:cSld name="Title and body (g3f784e78524_49_0)">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0" name="Google Shape;60;p1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g3f784e78524_63_0)">
  <p:cSld name="Title and body (g3f784e78524_63_0)">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4" name="Google Shape;64;p1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5" name="Google Shape;65;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g3f784e78524_70_0)">
  <p:cSld name="Title and body (g3f784e78524_70_0)">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8" name="Google Shape;68;p1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g3f784e78524_77_0)">
  <p:cSld name="Title and body (g3f784e78524_77_0)">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2" name="Google Shape;72;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3" name="Google Shape;7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g3f784e78524_84_0)">
  <p:cSld name="Title and body (g3f784e78524_84_0)">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6" name="Google Shape;76;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77" name="Google Shape;7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g3f784e78524_91_0)">
  <p:cSld name="Title and body (g3f784e78524_91_0)">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0" name="Google Shape;80;p2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1" name="Google Shape;8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body (g3f784e78524_98_0)">
  <p:cSld name="Title and body (g3f784e78524_98_0)">
    <p:spTree>
      <p:nvGrpSpPr>
        <p:cNvPr id="1" name="Shape 82"/>
        <p:cNvGrpSpPr/>
        <p:nvPr/>
      </p:nvGrpSpPr>
      <p:grpSpPr>
        <a:xfrm>
          <a:off x="0" y="0"/>
          <a:ext cx="0" cy="0"/>
          <a:chOff x="0" y="0"/>
          <a:chExt cx="0" cy="0"/>
        </a:xfrm>
      </p:grpSpPr>
      <p:sp>
        <p:nvSpPr>
          <p:cNvPr id="83" name="Google Shape;83;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4" name="Google Shape;84;p21"/>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grpSp>
        <p:nvGrpSpPr>
          <p:cNvPr id="90" name="Google Shape;90;p22"/>
          <p:cNvGrpSpPr/>
          <p:nvPr/>
        </p:nvGrpSpPr>
        <p:grpSpPr>
          <a:xfrm>
            <a:off x="-1" y="381006"/>
            <a:ext cx="1037855" cy="1016294"/>
            <a:chOff x="-1" y="381006"/>
            <a:chExt cx="1037855" cy="1016294"/>
          </a:xfrm>
        </p:grpSpPr>
        <p:sp>
          <p:nvSpPr>
            <p:cNvPr id="91" name="Google Shape;91;p22"/>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2" name="Google Shape;92;p22"/>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93" name="Google Shape;93;p22"/>
          <p:cNvSpPr txBox="1">
            <a:spLocks noGrp="1"/>
          </p:cNvSpPr>
          <p:nvPr>
            <p:ph type="title"/>
          </p:nvPr>
        </p:nvSpPr>
        <p:spPr>
          <a:xfrm>
            <a:off x="1092800" y="136600"/>
            <a:ext cx="7298700" cy="507000"/>
          </a:xfrm>
          <a:prstGeom prst="rect">
            <a:avLst/>
          </a:prstGeom>
          <a:solidFill>
            <a:schemeClr val="dk2"/>
          </a:solidFill>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360" b="1">
                <a:solidFill>
                  <a:schemeClr val="dk1"/>
                </a:solidFill>
                <a:latin typeface="Times New Roman"/>
                <a:ea typeface="Times New Roman"/>
                <a:cs typeface="Times New Roman"/>
                <a:sym typeface="Times New Roman"/>
              </a:rPr>
              <a:t>Project Overview </a:t>
            </a:r>
            <a:endParaRPr sz="2360" b="1">
              <a:solidFill>
                <a:schemeClr val="dk1"/>
              </a:solidFill>
              <a:latin typeface="Times New Roman"/>
              <a:ea typeface="Times New Roman"/>
              <a:cs typeface="Times New Roman"/>
              <a:sym typeface="Times New Roman"/>
            </a:endParaRPr>
          </a:p>
        </p:txBody>
      </p:sp>
      <p:sp>
        <p:nvSpPr>
          <p:cNvPr id="94" name="Google Shape;94;p22"/>
          <p:cNvSpPr txBox="1">
            <a:spLocks noGrp="1"/>
          </p:cNvSpPr>
          <p:nvPr>
            <p:ph type="body" idx="1"/>
          </p:nvPr>
        </p:nvSpPr>
        <p:spPr>
          <a:xfrm>
            <a:off x="1037850" y="786600"/>
            <a:ext cx="7298700" cy="41424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900" b="1">
                <a:solidFill>
                  <a:srgbClr val="000000"/>
                </a:solidFill>
                <a:latin typeface="Times New Roman"/>
                <a:ea typeface="Times New Roman"/>
                <a:cs typeface="Times New Roman"/>
                <a:sym typeface="Times New Roman"/>
              </a:rPr>
              <a:t>80 kg Autonomous Precision Agricultural Spraying UAV</a:t>
            </a:r>
            <a:endParaRPr sz="19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00">
                <a:solidFill>
                  <a:srgbClr val="000000"/>
                </a:solidFill>
                <a:latin typeface="Times New Roman"/>
                <a:ea typeface="Times New Roman"/>
                <a:cs typeface="Times New Roman"/>
                <a:sym typeface="Times New Roman"/>
              </a:rPr>
              <a:t>This project presents the conceptual design of a heavy-lift quadcopter developed for autonomous crop spraying over large agricultural fields. The aircraft combines high payload capacity with precise navigation, controlled spray delivery, and automated mission execution.</a:t>
            </a:r>
            <a:endParaRPr sz="17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00" b="1">
                <a:solidFill>
                  <a:srgbClr val="000000"/>
                </a:solidFill>
                <a:latin typeface="Times New Roman"/>
                <a:ea typeface="Times New Roman"/>
                <a:cs typeface="Times New Roman"/>
                <a:sym typeface="Times New Roman"/>
              </a:rPr>
              <a:t>Main Goals</a:t>
            </a:r>
            <a:endParaRPr sz="1700" b="1">
              <a:solidFill>
                <a:srgbClr val="000000"/>
              </a:solidFill>
              <a:latin typeface="Times New Roman"/>
              <a:ea typeface="Times New Roman"/>
              <a:cs typeface="Times New Roman"/>
              <a:sym typeface="Times New Roman"/>
            </a:endParaRPr>
          </a:p>
          <a:p>
            <a:pPr marL="457200" lvl="0" indent="-336550" algn="l" rtl="0">
              <a:spcBef>
                <a:spcPts val="1200"/>
              </a:spcBef>
              <a:spcAft>
                <a:spcPts val="0"/>
              </a:spcAft>
              <a:buClr>
                <a:srgbClr val="000000"/>
              </a:buClr>
              <a:buSzPts val="1700"/>
              <a:buFont typeface="Times New Roman"/>
              <a:buChar char="●"/>
            </a:pPr>
            <a:r>
              <a:rPr lang="en" sz="1700">
                <a:solidFill>
                  <a:srgbClr val="000000"/>
                </a:solidFill>
                <a:latin typeface="Times New Roman"/>
                <a:ea typeface="Times New Roman"/>
                <a:cs typeface="Times New Roman"/>
                <a:sym typeface="Times New Roman"/>
              </a:rPr>
              <a:t>Improve spray consistency and field coverage</a:t>
            </a:r>
            <a:endParaRPr sz="1700">
              <a:solidFill>
                <a:srgbClr val="000000"/>
              </a:solidFill>
              <a:latin typeface="Times New Roman"/>
              <a:ea typeface="Times New Roman"/>
              <a:cs typeface="Times New Roman"/>
              <a:sym typeface="Times New Roman"/>
            </a:endParaRPr>
          </a:p>
          <a:p>
            <a:pPr marL="457200" lvl="0" indent="-336550" algn="l" rtl="0">
              <a:spcBef>
                <a:spcPts val="0"/>
              </a:spcBef>
              <a:spcAft>
                <a:spcPts val="0"/>
              </a:spcAft>
              <a:buClr>
                <a:srgbClr val="000000"/>
              </a:buClr>
              <a:buSzPts val="1700"/>
              <a:buFont typeface="Times New Roman"/>
              <a:buChar char="●"/>
            </a:pPr>
            <a:r>
              <a:rPr lang="en" sz="1700">
                <a:solidFill>
                  <a:srgbClr val="000000"/>
                </a:solidFill>
                <a:latin typeface="Times New Roman"/>
                <a:ea typeface="Times New Roman"/>
                <a:cs typeface="Times New Roman"/>
                <a:sym typeface="Times New Roman"/>
              </a:rPr>
              <a:t>Reduce operator workload and chemical exposure</a:t>
            </a:r>
            <a:endParaRPr sz="1700">
              <a:solidFill>
                <a:srgbClr val="000000"/>
              </a:solidFill>
              <a:latin typeface="Times New Roman"/>
              <a:ea typeface="Times New Roman"/>
              <a:cs typeface="Times New Roman"/>
              <a:sym typeface="Times New Roman"/>
            </a:endParaRPr>
          </a:p>
          <a:p>
            <a:pPr marL="457200" lvl="0" indent="-336550" algn="l" rtl="0">
              <a:spcBef>
                <a:spcPts val="0"/>
              </a:spcBef>
              <a:spcAft>
                <a:spcPts val="0"/>
              </a:spcAft>
              <a:buClr>
                <a:srgbClr val="000000"/>
              </a:buClr>
              <a:buSzPts val="1700"/>
              <a:buFont typeface="Times New Roman"/>
              <a:buChar char="●"/>
            </a:pPr>
            <a:r>
              <a:rPr lang="en" sz="1700">
                <a:solidFill>
                  <a:srgbClr val="000000"/>
                </a:solidFill>
                <a:latin typeface="Times New Roman"/>
                <a:ea typeface="Times New Roman"/>
                <a:cs typeface="Times New Roman"/>
                <a:sym typeface="Times New Roman"/>
              </a:rPr>
              <a:t>Support repeatable autonomous spraying missions</a:t>
            </a:r>
            <a:endParaRPr sz="1700">
              <a:solidFill>
                <a:srgbClr val="000000"/>
              </a:solidFill>
              <a:latin typeface="Times New Roman"/>
              <a:ea typeface="Times New Roman"/>
              <a:cs typeface="Times New Roman"/>
              <a:sym typeface="Times New Roman"/>
            </a:endParaRPr>
          </a:p>
          <a:p>
            <a:pPr marL="457200" lvl="0" indent="-336550" algn="l" rtl="0">
              <a:spcBef>
                <a:spcPts val="0"/>
              </a:spcBef>
              <a:spcAft>
                <a:spcPts val="0"/>
              </a:spcAft>
              <a:buClr>
                <a:srgbClr val="000000"/>
              </a:buClr>
              <a:buSzPts val="1700"/>
              <a:buFont typeface="Times New Roman"/>
              <a:buChar char="●"/>
            </a:pPr>
            <a:r>
              <a:rPr lang="en" sz="1700">
                <a:solidFill>
                  <a:srgbClr val="000000"/>
                </a:solidFill>
                <a:latin typeface="Times New Roman"/>
                <a:ea typeface="Times New Roman"/>
                <a:cs typeface="Times New Roman"/>
                <a:sym typeface="Times New Roman"/>
              </a:rPr>
              <a:t>Integrate flight, navigation, power, and spraying into one system</a:t>
            </a:r>
            <a:endParaRPr sz="17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00" b="1">
                <a:solidFill>
                  <a:srgbClr val="000000"/>
                </a:solidFill>
                <a:latin typeface="Times New Roman"/>
                <a:ea typeface="Times New Roman"/>
                <a:cs typeface="Times New Roman"/>
                <a:sym typeface="Times New Roman"/>
              </a:rPr>
              <a:t>Design Focus:</a:t>
            </a:r>
            <a:r>
              <a:rPr lang="en" sz="1700">
                <a:solidFill>
                  <a:srgbClr val="000000"/>
                </a:solidFill>
                <a:latin typeface="Times New Roman"/>
                <a:ea typeface="Times New Roman"/>
                <a:cs typeface="Times New Roman"/>
                <a:sym typeface="Times New Roman"/>
              </a:rPr>
              <a:t> Precision • Efficiency • Safety • Autonomy</a:t>
            </a:r>
            <a:endParaRPr sz="170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2300"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
        <p:cNvGrpSpPr/>
        <p:nvPr/>
      </p:nvGrpSpPr>
      <p:grpSpPr>
        <a:xfrm>
          <a:off x="0" y="0"/>
          <a:ext cx="0" cy="0"/>
          <a:chOff x="0" y="0"/>
          <a:chExt cx="0" cy="0"/>
        </a:xfrm>
      </p:grpSpPr>
      <p:grpSp>
        <p:nvGrpSpPr>
          <p:cNvPr id="99" name="Google Shape;99;p23"/>
          <p:cNvGrpSpPr/>
          <p:nvPr/>
        </p:nvGrpSpPr>
        <p:grpSpPr>
          <a:xfrm>
            <a:off x="-1" y="381006"/>
            <a:ext cx="1037855" cy="1016294"/>
            <a:chOff x="-1" y="381006"/>
            <a:chExt cx="1037855" cy="1016294"/>
          </a:xfrm>
        </p:grpSpPr>
        <p:sp>
          <p:nvSpPr>
            <p:cNvPr id="100" name="Google Shape;100;p23"/>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 name="Google Shape;101;p23"/>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02" name="Google Shape;102;p23"/>
          <p:cNvSpPr txBox="1">
            <a:spLocks noGrp="1"/>
          </p:cNvSpPr>
          <p:nvPr>
            <p:ph type="title"/>
          </p:nvPr>
        </p:nvSpPr>
        <p:spPr>
          <a:xfrm>
            <a:off x="1297500" y="393750"/>
            <a:ext cx="7038900" cy="613200"/>
          </a:xfrm>
          <a:prstGeom prst="rect">
            <a:avLst/>
          </a:prstGeom>
          <a:solidFill>
            <a:schemeClr val="dk2"/>
          </a:solidFill>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Times New Roman"/>
                <a:ea typeface="Times New Roman"/>
                <a:cs typeface="Times New Roman"/>
                <a:sym typeface="Times New Roman"/>
              </a:rPr>
              <a:t>Mission &amp; Design Objectives </a:t>
            </a:r>
            <a:endParaRPr b="1">
              <a:solidFill>
                <a:schemeClr val="dk1"/>
              </a:solidFill>
              <a:latin typeface="Times New Roman"/>
              <a:ea typeface="Times New Roman"/>
              <a:cs typeface="Times New Roman"/>
              <a:sym typeface="Times New Roman"/>
            </a:endParaRPr>
          </a:p>
        </p:txBody>
      </p:sp>
      <p:sp>
        <p:nvSpPr>
          <p:cNvPr id="103" name="Google Shape;103;p23"/>
          <p:cNvSpPr txBox="1">
            <a:spLocks noGrp="1"/>
          </p:cNvSpPr>
          <p:nvPr>
            <p:ph type="body" idx="1"/>
          </p:nvPr>
        </p:nvSpPr>
        <p:spPr>
          <a:xfrm>
            <a:off x="1297500" y="1282375"/>
            <a:ext cx="7038900" cy="3954900"/>
          </a:xfrm>
          <a:prstGeom prst="rect">
            <a:avLst/>
          </a:prstGeom>
        </p:spPr>
        <p:txBody>
          <a:bodyPr spcFirstLastPara="1" wrap="square" lIns="91425" tIns="91425" rIns="91425" bIns="91425" anchor="t" anchorCtr="0">
            <a:normAutofit fontScale="85000" lnSpcReduction="10000"/>
          </a:bodyPr>
          <a:lstStyle/>
          <a:p>
            <a:pPr marL="0" lvl="0" indent="0" algn="l" rtl="0">
              <a:spcBef>
                <a:spcPts val="1400"/>
              </a:spcBef>
              <a:spcAft>
                <a:spcPts val="0"/>
              </a:spcAft>
              <a:buNone/>
            </a:pPr>
            <a:r>
              <a:rPr lang="en" sz="1958" b="1">
                <a:solidFill>
                  <a:srgbClr val="000000"/>
                </a:solidFill>
                <a:latin typeface="Times New Roman"/>
                <a:ea typeface="Times New Roman"/>
                <a:cs typeface="Times New Roman"/>
                <a:sym typeface="Times New Roman"/>
              </a:rPr>
              <a:t>Mission</a:t>
            </a:r>
            <a:endParaRPr sz="1958"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58">
                <a:solidFill>
                  <a:srgbClr val="000000"/>
                </a:solidFill>
                <a:latin typeface="Times New Roman"/>
                <a:ea typeface="Times New Roman"/>
                <a:cs typeface="Times New Roman"/>
                <a:sym typeface="Times New Roman"/>
              </a:rPr>
              <a:t>The UAV is designed to carry a liquid spray payload while following a planned route across agricultural fields. During the mission, it must maintain stable flight, accurate positioning, and controlled spray output while the operator supervises the system.</a:t>
            </a:r>
            <a:endParaRPr sz="1758">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58" b="1">
                <a:solidFill>
                  <a:srgbClr val="000000"/>
                </a:solidFill>
                <a:latin typeface="Times New Roman"/>
                <a:ea typeface="Times New Roman"/>
                <a:cs typeface="Times New Roman"/>
                <a:sym typeface="Times New Roman"/>
              </a:rPr>
              <a:t>Main Objectives</a:t>
            </a:r>
            <a:endParaRPr sz="1758" b="1">
              <a:solidFill>
                <a:srgbClr val="000000"/>
              </a:solidFill>
              <a:latin typeface="Times New Roman"/>
              <a:ea typeface="Times New Roman"/>
              <a:cs typeface="Times New Roman"/>
              <a:sym typeface="Times New Roman"/>
            </a:endParaRPr>
          </a:p>
          <a:p>
            <a:pPr marL="457200" lvl="0" indent="-323469" algn="l" rtl="0">
              <a:spcBef>
                <a:spcPts val="1200"/>
              </a:spcBef>
              <a:spcAft>
                <a:spcPts val="0"/>
              </a:spcAft>
              <a:buClr>
                <a:srgbClr val="000000"/>
              </a:buClr>
              <a:buSzPct val="100000"/>
              <a:buFont typeface="Arial"/>
              <a:buChar char="●"/>
            </a:pPr>
            <a:r>
              <a:rPr lang="en" sz="1758" b="1">
                <a:solidFill>
                  <a:srgbClr val="000000"/>
                </a:solidFill>
                <a:latin typeface="Times New Roman"/>
                <a:ea typeface="Times New Roman"/>
                <a:cs typeface="Times New Roman"/>
                <a:sym typeface="Times New Roman"/>
              </a:rPr>
              <a:t>Precision</a:t>
            </a:r>
            <a:r>
              <a:rPr lang="en" sz="1758">
                <a:solidFill>
                  <a:srgbClr val="000000"/>
                </a:solidFill>
                <a:latin typeface="Times New Roman"/>
                <a:ea typeface="Times New Roman"/>
                <a:cs typeface="Times New Roman"/>
                <a:sym typeface="Times New Roman"/>
              </a:rPr>
              <a:t> — Follow planned paths and maintain consistent coverage</a:t>
            </a:r>
            <a:endParaRPr sz="1758">
              <a:solidFill>
                <a:srgbClr val="000000"/>
              </a:solidFill>
              <a:latin typeface="Times New Roman"/>
              <a:ea typeface="Times New Roman"/>
              <a:cs typeface="Times New Roman"/>
              <a:sym typeface="Times New Roman"/>
            </a:endParaRPr>
          </a:p>
          <a:p>
            <a:pPr marL="457200" lvl="0" indent="-323469" algn="l" rtl="0">
              <a:spcBef>
                <a:spcPts val="0"/>
              </a:spcBef>
              <a:spcAft>
                <a:spcPts val="0"/>
              </a:spcAft>
              <a:buClr>
                <a:srgbClr val="000000"/>
              </a:buClr>
              <a:buSzPct val="100000"/>
              <a:buFont typeface="Arial"/>
              <a:buChar char="●"/>
            </a:pPr>
            <a:r>
              <a:rPr lang="en" sz="1758" b="1">
                <a:solidFill>
                  <a:srgbClr val="000000"/>
                </a:solidFill>
                <a:latin typeface="Times New Roman"/>
                <a:ea typeface="Times New Roman"/>
                <a:cs typeface="Times New Roman"/>
                <a:sym typeface="Times New Roman"/>
              </a:rPr>
              <a:t>Efficiency</a:t>
            </a:r>
            <a:r>
              <a:rPr lang="en" sz="1758">
                <a:solidFill>
                  <a:srgbClr val="000000"/>
                </a:solidFill>
                <a:latin typeface="Times New Roman"/>
                <a:ea typeface="Times New Roman"/>
                <a:cs typeface="Times New Roman"/>
                <a:sym typeface="Times New Roman"/>
              </a:rPr>
              <a:t> — Reduce unnecessary overlap, time, and spray use</a:t>
            </a:r>
            <a:endParaRPr sz="1758">
              <a:solidFill>
                <a:srgbClr val="000000"/>
              </a:solidFill>
              <a:latin typeface="Times New Roman"/>
              <a:ea typeface="Times New Roman"/>
              <a:cs typeface="Times New Roman"/>
              <a:sym typeface="Times New Roman"/>
            </a:endParaRPr>
          </a:p>
          <a:p>
            <a:pPr marL="457200" lvl="0" indent="-323469" algn="l" rtl="0">
              <a:spcBef>
                <a:spcPts val="0"/>
              </a:spcBef>
              <a:spcAft>
                <a:spcPts val="0"/>
              </a:spcAft>
              <a:buClr>
                <a:srgbClr val="000000"/>
              </a:buClr>
              <a:buSzPct val="100000"/>
              <a:buFont typeface="Arial"/>
              <a:buChar char="●"/>
            </a:pPr>
            <a:r>
              <a:rPr lang="en" sz="1758" b="1">
                <a:solidFill>
                  <a:srgbClr val="000000"/>
                </a:solidFill>
                <a:latin typeface="Times New Roman"/>
                <a:ea typeface="Times New Roman"/>
                <a:cs typeface="Times New Roman"/>
                <a:sym typeface="Times New Roman"/>
              </a:rPr>
              <a:t>Stability</a:t>
            </a:r>
            <a:r>
              <a:rPr lang="en" sz="1758">
                <a:solidFill>
                  <a:srgbClr val="000000"/>
                </a:solidFill>
                <a:latin typeface="Times New Roman"/>
                <a:ea typeface="Times New Roman"/>
                <a:cs typeface="Times New Roman"/>
                <a:sym typeface="Times New Roman"/>
              </a:rPr>
              <a:t> — Maintain controlled flight under high payload conditions</a:t>
            </a:r>
            <a:endParaRPr sz="1758">
              <a:solidFill>
                <a:srgbClr val="000000"/>
              </a:solidFill>
              <a:latin typeface="Times New Roman"/>
              <a:ea typeface="Times New Roman"/>
              <a:cs typeface="Times New Roman"/>
              <a:sym typeface="Times New Roman"/>
            </a:endParaRPr>
          </a:p>
          <a:p>
            <a:pPr marL="457200" lvl="0" indent="-323469" algn="l" rtl="0">
              <a:spcBef>
                <a:spcPts val="0"/>
              </a:spcBef>
              <a:spcAft>
                <a:spcPts val="0"/>
              </a:spcAft>
              <a:buClr>
                <a:srgbClr val="000000"/>
              </a:buClr>
              <a:buSzPct val="100000"/>
              <a:buFont typeface="Arial"/>
              <a:buChar char="●"/>
            </a:pPr>
            <a:r>
              <a:rPr lang="en" sz="1758" b="1">
                <a:solidFill>
                  <a:srgbClr val="000000"/>
                </a:solidFill>
                <a:latin typeface="Times New Roman"/>
                <a:ea typeface="Times New Roman"/>
                <a:cs typeface="Times New Roman"/>
                <a:sym typeface="Times New Roman"/>
              </a:rPr>
              <a:t>Safety</a:t>
            </a:r>
            <a:r>
              <a:rPr lang="en" sz="1758">
                <a:solidFill>
                  <a:srgbClr val="000000"/>
                </a:solidFill>
                <a:latin typeface="Times New Roman"/>
                <a:ea typeface="Times New Roman"/>
                <a:cs typeface="Times New Roman"/>
                <a:sym typeface="Times New Roman"/>
              </a:rPr>
              <a:t> — Monitor aircraft status and respond to system faults</a:t>
            </a:r>
            <a:endParaRPr sz="1758">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958" b="1">
                <a:solidFill>
                  <a:srgbClr val="000000"/>
                </a:solidFill>
                <a:latin typeface="Times New Roman"/>
                <a:ea typeface="Times New Roman"/>
                <a:cs typeface="Times New Roman"/>
                <a:sym typeface="Times New Roman"/>
              </a:rPr>
              <a:t>Mission Flow;</a:t>
            </a:r>
            <a:endParaRPr sz="1958"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758">
                <a:solidFill>
                  <a:srgbClr val="000000"/>
                </a:solidFill>
                <a:latin typeface="Times New Roman"/>
                <a:ea typeface="Times New Roman"/>
                <a:cs typeface="Times New Roman"/>
                <a:sym typeface="Times New Roman"/>
              </a:rPr>
              <a:t>Plan Mission → Take Off → Navigate → Spray → Return → Land</a:t>
            </a:r>
            <a:endParaRPr sz="1758">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grpSp>
        <p:nvGrpSpPr>
          <p:cNvPr id="108" name="Google Shape;108;p24"/>
          <p:cNvGrpSpPr/>
          <p:nvPr/>
        </p:nvGrpSpPr>
        <p:grpSpPr>
          <a:xfrm>
            <a:off x="-1" y="381006"/>
            <a:ext cx="1037855" cy="1016294"/>
            <a:chOff x="-1" y="381006"/>
            <a:chExt cx="1037855" cy="1016294"/>
          </a:xfrm>
        </p:grpSpPr>
        <p:sp>
          <p:nvSpPr>
            <p:cNvPr id="109" name="Google Shape;109;p24"/>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0" name="Google Shape;110;p24"/>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11" name="Google Shape;111;p24"/>
          <p:cNvSpPr txBox="1">
            <a:spLocks noGrp="1"/>
          </p:cNvSpPr>
          <p:nvPr>
            <p:ph type="title"/>
          </p:nvPr>
        </p:nvSpPr>
        <p:spPr>
          <a:xfrm>
            <a:off x="1297500" y="334925"/>
            <a:ext cx="7038900" cy="4959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511" b="1">
                <a:solidFill>
                  <a:schemeClr val="dk1"/>
                </a:solidFill>
                <a:latin typeface="Times New Roman"/>
                <a:ea typeface="Times New Roman"/>
                <a:cs typeface="Times New Roman"/>
                <a:sym typeface="Times New Roman"/>
              </a:rPr>
              <a:t>Design Requirements</a:t>
            </a:r>
            <a:r>
              <a:rPr lang="en">
                <a:solidFill>
                  <a:schemeClr val="dk1"/>
                </a:solidFill>
                <a:latin typeface="Times New Roman"/>
                <a:ea typeface="Times New Roman"/>
                <a:cs typeface="Times New Roman"/>
                <a:sym typeface="Times New Roman"/>
              </a:rPr>
              <a:t> </a:t>
            </a:r>
            <a:endParaRPr>
              <a:solidFill>
                <a:schemeClr val="dk1"/>
              </a:solidFill>
              <a:latin typeface="Times New Roman"/>
              <a:ea typeface="Times New Roman"/>
              <a:cs typeface="Times New Roman"/>
              <a:sym typeface="Times New Roman"/>
            </a:endParaRPr>
          </a:p>
        </p:txBody>
      </p:sp>
      <p:sp>
        <p:nvSpPr>
          <p:cNvPr id="112" name="Google Shape;112;p24"/>
          <p:cNvSpPr txBox="1">
            <a:spLocks noGrp="1"/>
          </p:cNvSpPr>
          <p:nvPr>
            <p:ph type="body" idx="1"/>
          </p:nvPr>
        </p:nvSpPr>
        <p:spPr>
          <a:xfrm>
            <a:off x="1198350" y="951850"/>
            <a:ext cx="7038900" cy="4461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solidFill>
                  <a:schemeClr val="dk1"/>
                </a:solidFill>
              </a:rPr>
              <a:t> </a:t>
            </a:r>
            <a:endParaRPr>
              <a:solidFill>
                <a:schemeClr val="dk1"/>
              </a:solidFill>
            </a:endParaRPr>
          </a:p>
        </p:txBody>
      </p:sp>
      <p:graphicFrame>
        <p:nvGraphicFramePr>
          <p:cNvPr id="113" name="Google Shape;113;p24"/>
          <p:cNvGraphicFramePr/>
          <p:nvPr>
            <p:extLst>
              <p:ext uri="{D42A27DB-BD31-4B8C-83A1-F6EECF244321}">
                <p14:modId xmlns:p14="http://schemas.microsoft.com/office/powerpoint/2010/main" val="4068278787"/>
              </p:ext>
            </p:extLst>
          </p:nvPr>
        </p:nvGraphicFramePr>
        <p:xfrm>
          <a:off x="4856597" y="1172347"/>
          <a:ext cx="3582775" cy="3238500"/>
        </p:xfrm>
        <a:graphic>
          <a:graphicData uri="http://schemas.openxmlformats.org/drawingml/2006/table">
            <a:tbl>
              <a:tblPr>
                <a:noFill/>
                <a:tableStyleId>{F8804F2B-6FA0-4BDC-AACF-A6849F047DD7}</a:tableStyleId>
              </a:tblPr>
              <a:tblGrid>
                <a:gridCol w="1904775">
                  <a:extLst>
                    <a:ext uri="{9D8B030D-6E8A-4147-A177-3AD203B41FA5}">
                      <a16:colId xmlns:a16="http://schemas.microsoft.com/office/drawing/2014/main" xmlns="" val="20000"/>
                    </a:ext>
                  </a:extLst>
                </a:gridCol>
                <a:gridCol w="1678000">
                  <a:extLst>
                    <a:ext uri="{9D8B030D-6E8A-4147-A177-3AD203B41FA5}">
                      <a16:colId xmlns:a16="http://schemas.microsoft.com/office/drawing/2014/main" xmlns="" val="20001"/>
                    </a:ext>
                  </a:extLst>
                </a:gridCol>
              </a:tblGrid>
              <a:tr h="359825">
                <a:tc>
                  <a:txBody>
                    <a:bodyPr/>
                    <a:lstStyle/>
                    <a:p>
                      <a:pPr marL="0" lvl="0" indent="0" algn="ctr" rtl="0">
                        <a:spcBef>
                          <a:spcPts val="0"/>
                        </a:spcBef>
                        <a:spcAft>
                          <a:spcPts val="0"/>
                        </a:spcAft>
                        <a:buNone/>
                      </a:pPr>
                      <a:r>
                        <a:rPr lang="en" sz="1100" b="1">
                          <a:solidFill>
                            <a:srgbClr val="000000"/>
                          </a:solidFill>
                          <a:highlight>
                            <a:srgbClr val="D9D9D9"/>
                          </a:highlight>
                          <a:latin typeface="Times New Roman"/>
                          <a:ea typeface="Times New Roman"/>
                          <a:cs typeface="Times New Roman"/>
                          <a:sym typeface="Times New Roman"/>
                        </a:rPr>
                        <a:t>Parameter</a:t>
                      </a:r>
                      <a:endParaRPr sz="1100" b="1">
                        <a:solidFill>
                          <a:srgbClr val="000000"/>
                        </a:solidFill>
                        <a:highlight>
                          <a:srgbClr val="D9D9D9"/>
                        </a:highlight>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D9D9"/>
                    </a:solidFill>
                  </a:tcPr>
                </a:tc>
                <a:tc>
                  <a:txBody>
                    <a:bodyPr/>
                    <a:lstStyle/>
                    <a:p>
                      <a:pPr marL="0" lvl="0" indent="0" algn="ctr" rtl="0">
                        <a:spcBef>
                          <a:spcPts val="0"/>
                        </a:spcBef>
                        <a:spcAft>
                          <a:spcPts val="0"/>
                        </a:spcAft>
                        <a:buNone/>
                      </a:pPr>
                      <a:r>
                        <a:rPr lang="en" sz="1100" b="1">
                          <a:solidFill>
                            <a:srgbClr val="000000"/>
                          </a:solidFill>
                          <a:highlight>
                            <a:srgbClr val="D9D9D9"/>
                          </a:highlight>
                          <a:latin typeface="Times New Roman"/>
                          <a:ea typeface="Times New Roman"/>
                          <a:cs typeface="Times New Roman"/>
                          <a:sym typeface="Times New Roman"/>
                        </a:rPr>
                        <a:t>Design Value</a:t>
                      </a:r>
                      <a:endParaRPr sz="1100" b="1">
                        <a:solidFill>
                          <a:srgbClr val="000000"/>
                        </a:solidFill>
                        <a:highlight>
                          <a:srgbClr val="D9D9D9"/>
                        </a:highlight>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D9D9D9"/>
                    </a:solidFill>
                  </a:tcPr>
                </a:tc>
                <a:extLst>
                  <a:ext uri="{0D108BD9-81ED-4DB2-BD59-A6C34878D82A}">
                    <a16:rowId xmlns:a16="http://schemas.microsoft.com/office/drawing/2014/main" xmlns="" val="10000"/>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Maximum Takeoff Mass</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a:solidFill>
                            <a:srgbClr val="000000"/>
                          </a:solidFill>
                          <a:latin typeface="Times New Roman"/>
                          <a:ea typeface="Times New Roman"/>
                          <a:cs typeface="Times New Roman"/>
                          <a:sym typeface="Times New Roman"/>
                        </a:rPr>
                        <a:t>~80 kg</a:t>
                      </a:r>
                      <a:endParaRPr sz="1200" b="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1"/>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Spray Payload</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a:solidFill>
                            <a:srgbClr val="000000"/>
                          </a:solidFill>
                          <a:latin typeface="Times New Roman"/>
                          <a:ea typeface="Times New Roman"/>
                          <a:cs typeface="Times New Roman"/>
                          <a:sym typeface="Times New Roman"/>
                        </a:rPr>
                        <a:t>55 </a:t>
                      </a:r>
                      <a:r>
                        <a:rPr lang="en" sz="1200" b="0" dirty="0">
                          <a:solidFill>
                            <a:srgbClr val="000000"/>
                          </a:solidFill>
                          <a:latin typeface="Times New Roman"/>
                          <a:ea typeface="Times New Roman"/>
                          <a:cs typeface="Times New Roman"/>
                          <a:sym typeface="Times New Roman"/>
                        </a:rPr>
                        <a:t>L</a:t>
                      </a:r>
                      <a:endParaRPr sz="1200" b="0" dirty="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2"/>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Empty Aircraft Mass</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dirty="0">
                          <a:solidFill>
                            <a:srgbClr val="000000"/>
                          </a:solidFill>
                          <a:latin typeface="Times New Roman"/>
                          <a:ea typeface="Times New Roman"/>
                          <a:cs typeface="Times New Roman"/>
                          <a:sym typeface="Times New Roman"/>
                        </a:rPr>
                        <a:t>~12 kg</a:t>
                      </a:r>
                      <a:endParaRPr sz="1200" b="0" dirty="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3"/>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Battery System</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a:solidFill>
                            <a:srgbClr val="000000"/>
                          </a:solidFill>
                          <a:latin typeface="Times New Roman"/>
                          <a:ea typeface="Times New Roman"/>
                          <a:cs typeface="Times New Roman"/>
                          <a:sym typeface="Times New Roman"/>
                        </a:rPr>
                        <a:t>Dual LiPo, ~8 kg</a:t>
                      </a:r>
                      <a:endParaRPr sz="1200" b="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4"/>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Operating Speed</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a:solidFill>
                            <a:srgbClr val="000000"/>
                          </a:solidFill>
                          <a:latin typeface="Times New Roman"/>
                          <a:ea typeface="Times New Roman"/>
                          <a:cs typeface="Times New Roman"/>
                          <a:sym typeface="Times New Roman"/>
                        </a:rPr>
                        <a:t>5–7 m/s</a:t>
                      </a:r>
                      <a:endParaRPr sz="1200" b="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5"/>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Spray Width</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a:solidFill>
                            <a:srgbClr val="000000"/>
                          </a:solidFill>
                          <a:latin typeface="Times New Roman"/>
                          <a:ea typeface="Times New Roman"/>
                          <a:cs typeface="Times New Roman"/>
                          <a:sym typeface="Times New Roman"/>
                        </a:rPr>
                        <a:t>~5.5–6 m</a:t>
                      </a:r>
                      <a:endParaRPr sz="1200" b="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6"/>
                  </a:ext>
                </a:extLst>
              </a:tr>
              <a:tr h="359825">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Navigation</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a:solidFill>
                            <a:srgbClr val="000000"/>
                          </a:solidFill>
                          <a:latin typeface="Times New Roman"/>
                          <a:ea typeface="Times New Roman"/>
                          <a:cs typeface="Times New Roman"/>
                          <a:sym typeface="Times New Roman"/>
                        </a:rPr>
                        <a:t>RTK-GPS</a:t>
                      </a:r>
                      <a:endParaRPr sz="1200" b="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7"/>
                  </a:ext>
                </a:extLst>
              </a:tr>
              <a:tr h="359900">
                <a:tc>
                  <a:txBody>
                    <a:bodyPr/>
                    <a:lstStyle/>
                    <a:p>
                      <a:pPr marL="0" lvl="0" indent="0" algn="l" rtl="0">
                        <a:spcBef>
                          <a:spcPts val="0"/>
                        </a:spcBef>
                        <a:spcAft>
                          <a:spcPts val="0"/>
                        </a:spcAft>
                        <a:buNone/>
                      </a:pPr>
                      <a:r>
                        <a:rPr lang="en" sz="1100" b="1">
                          <a:solidFill>
                            <a:srgbClr val="000000"/>
                          </a:solidFill>
                          <a:latin typeface="Times New Roman"/>
                          <a:ea typeface="Times New Roman"/>
                          <a:cs typeface="Times New Roman"/>
                          <a:sym typeface="Times New Roman"/>
                        </a:rPr>
                        <a:t>Flight Mode</a:t>
                      </a:r>
                      <a:endParaRPr sz="1100" b="1">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b="0" dirty="0">
                          <a:solidFill>
                            <a:srgbClr val="000000"/>
                          </a:solidFill>
                          <a:latin typeface="Times New Roman"/>
                          <a:ea typeface="Times New Roman"/>
                          <a:cs typeface="Times New Roman"/>
                          <a:sym typeface="Times New Roman"/>
                        </a:rPr>
                        <a:t>Autonomous waypoint</a:t>
                      </a:r>
                      <a:endParaRPr sz="1200" b="0" dirty="0">
                        <a:solidFill>
                          <a:srgbClr val="000000"/>
                        </a:solidFill>
                        <a:latin typeface="Times New Roman"/>
                        <a:ea typeface="Times New Roman"/>
                        <a:cs typeface="Times New Roman"/>
                        <a:sym typeface="Times New Roman"/>
                      </a:endParaRPr>
                    </a:p>
                  </a:txBody>
                  <a:tcPr marL="57150" marR="57150" marT="57150" marB="5715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xmlns="" val="10008"/>
                  </a:ext>
                </a:extLst>
              </a:tr>
            </a:tbl>
          </a:graphicData>
        </a:graphic>
      </p:graphicFrame>
      <p:sp>
        <p:nvSpPr>
          <p:cNvPr id="114" name="Google Shape;114;p24"/>
          <p:cNvSpPr txBox="1"/>
          <p:nvPr/>
        </p:nvSpPr>
        <p:spPr>
          <a:xfrm>
            <a:off x="1447225" y="1172350"/>
            <a:ext cx="3000000" cy="3503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400"/>
              </a:spcBef>
              <a:spcAft>
                <a:spcPts val="0"/>
              </a:spcAft>
              <a:buNone/>
            </a:pPr>
            <a:r>
              <a:rPr lang="en" sz="1600" b="1">
                <a:latin typeface="Times New Roman"/>
                <a:ea typeface="Times New Roman"/>
                <a:cs typeface="Times New Roman"/>
                <a:sym typeface="Times New Roman"/>
              </a:rPr>
              <a:t>Key Design Parameters</a:t>
            </a:r>
            <a:endParaRPr sz="1600" b="1">
              <a:latin typeface="Times New Roman"/>
              <a:ea typeface="Times New Roman"/>
              <a:cs typeface="Times New Roman"/>
              <a:sym typeface="Times New Roman"/>
            </a:endParaRPr>
          </a:p>
          <a:p>
            <a:pPr marL="0" lvl="0" indent="0" algn="l" rtl="0">
              <a:lnSpc>
                <a:spcPct val="115000"/>
              </a:lnSpc>
              <a:spcBef>
                <a:spcPts val="1200"/>
              </a:spcBef>
              <a:spcAft>
                <a:spcPts val="0"/>
              </a:spcAft>
              <a:buNone/>
            </a:pPr>
            <a:r>
              <a:rPr lang="en">
                <a:latin typeface="Times New Roman"/>
                <a:ea typeface="Times New Roman"/>
                <a:cs typeface="Times New Roman"/>
                <a:sym typeface="Times New Roman"/>
              </a:rPr>
              <a:t>The aircraft requirements were derived from the intended agricultural mission and used as the basis for the engineering design. These values drive the sizing of the airframe, propulsion, power, avionics, and spraying systems.</a:t>
            </a:r>
            <a:endParaRPr>
              <a:latin typeface="Times New Roman"/>
              <a:ea typeface="Times New Roman"/>
              <a:cs typeface="Times New Roman"/>
              <a:sym typeface="Times New Roman"/>
            </a:endParaRPr>
          </a:p>
          <a:p>
            <a:pPr marL="0" lvl="0" indent="0" algn="l" rtl="0">
              <a:lnSpc>
                <a:spcPct val="115000"/>
              </a:lnSpc>
              <a:spcBef>
                <a:spcPts val="1400"/>
              </a:spcBef>
              <a:spcAft>
                <a:spcPts val="0"/>
              </a:spcAft>
              <a:buNone/>
            </a:pPr>
            <a:r>
              <a:rPr lang="en" sz="1600" b="1">
                <a:latin typeface="Times New Roman"/>
                <a:ea typeface="Times New Roman"/>
                <a:cs typeface="Times New Roman"/>
                <a:sym typeface="Times New Roman"/>
              </a:rPr>
              <a:t>Design Chain</a:t>
            </a:r>
            <a:endParaRPr sz="1600" b="1">
              <a:latin typeface="Times New Roman"/>
              <a:ea typeface="Times New Roman"/>
              <a:cs typeface="Times New Roman"/>
              <a:sym typeface="Times New Roman"/>
            </a:endParaRPr>
          </a:p>
          <a:p>
            <a:pPr marL="0" lvl="0" indent="0" algn="l" rtl="0">
              <a:lnSpc>
                <a:spcPct val="115000"/>
              </a:lnSpc>
              <a:spcBef>
                <a:spcPts val="1200"/>
              </a:spcBef>
              <a:spcAft>
                <a:spcPts val="1200"/>
              </a:spcAft>
              <a:buNone/>
            </a:pPr>
            <a:r>
              <a:rPr lang="en" b="1">
                <a:latin typeface="Times New Roman"/>
                <a:ea typeface="Times New Roman"/>
                <a:cs typeface="Times New Roman"/>
                <a:sym typeface="Times New Roman"/>
              </a:rPr>
              <a:t>Mission → Mass → Propulsion → Power → Control → Spraying</a:t>
            </a:r>
            <a:endParaRPr b="1">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8"/>
        <p:cNvGrpSpPr/>
        <p:nvPr/>
      </p:nvGrpSpPr>
      <p:grpSpPr>
        <a:xfrm>
          <a:off x="0" y="0"/>
          <a:ext cx="0" cy="0"/>
          <a:chOff x="0" y="0"/>
          <a:chExt cx="0" cy="0"/>
        </a:xfrm>
      </p:grpSpPr>
      <p:grpSp>
        <p:nvGrpSpPr>
          <p:cNvPr id="119" name="Google Shape;119;p25"/>
          <p:cNvGrpSpPr/>
          <p:nvPr/>
        </p:nvGrpSpPr>
        <p:grpSpPr>
          <a:xfrm>
            <a:off x="-1" y="381006"/>
            <a:ext cx="1037855" cy="1016294"/>
            <a:chOff x="-1" y="381006"/>
            <a:chExt cx="1037855" cy="1016294"/>
          </a:xfrm>
        </p:grpSpPr>
        <p:sp>
          <p:nvSpPr>
            <p:cNvPr id="120" name="Google Shape;120;p25"/>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1" name="Google Shape;121;p25"/>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22" name="Google Shape;122;p25"/>
          <p:cNvSpPr txBox="1">
            <a:spLocks noGrp="1"/>
          </p:cNvSpPr>
          <p:nvPr>
            <p:ph type="title"/>
          </p:nvPr>
        </p:nvSpPr>
        <p:spPr>
          <a:xfrm>
            <a:off x="1092875" y="393750"/>
            <a:ext cx="7243500" cy="558000"/>
          </a:xfrm>
          <a:prstGeom prst="rect">
            <a:avLst/>
          </a:prstGeom>
          <a:solidFill>
            <a:schemeClr val="dk2"/>
          </a:solidFill>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Times New Roman"/>
                <a:ea typeface="Times New Roman"/>
                <a:cs typeface="Times New Roman"/>
                <a:sym typeface="Times New Roman"/>
              </a:rPr>
              <a:t>Overall UAV Concept</a:t>
            </a:r>
            <a:r>
              <a:rPr lang="en">
                <a:solidFill>
                  <a:schemeClr val="dk1"/>
                </a:solidFill>
              </a:rPr>
              <a:t> </a:t>
            </a:r>
            <a:endParaRPr>
              <a:solidFill>
                <a:schemeClr val="dk1"/>
              </a:solidFill>
            </a:endParaRPr>
          </a:p>
        </p:txBody>
      </p:sp>
      <p:sp>
        <p:nvSpPr>
          <p:cNvPr id="123" name="Google Shape;123;p25"/>
          <p:cNvSpPr txBox="1">
            <a:spLocks noGrp="1"/>
          </p:cNvSpPr>
          <p:nvPr>
            <p:ph type="body" idx="1"/>
          </p:nvPr>
        </p:nvSpPr>
        <p:spPr>
          <a:xfrm>
            <a:off x="1037850" y="951850"/>
            <a:ext cx="7298700" cy="4560900"/>
          </a:xfrm>
          <a:prstGeom prst="rect">
            <a:avLst/>
          </a:prstGeom>
        </p:spPr>
        <p:txBody>
          <a:bodyPr spcFirstLastPara="1" wrap="square" lIns="91425" tIns="91425" rIns="91425" bIns="91425" anchor="t" anchorCtr="0">
            <a:normAutofit fontScale="92500"/>
          </a:bodyPr>
          <a:lstStyle/>
          <a:p>
            <a:pPr marL="0" lvl="0" indent="0" algn="l" rtl="0">
              <a:spcBef>
                <a:spcPts val="1400"/>
              </a:spcBef>
              <a:spcAft>
                <a:spcPts val="0"/>
              </a:spcAft>
              <a:buNone/>
            </a:pPr>
            <a:r>
              <a:rPr lang="en" sz="1508" b="1">
                <a:solidFill>
                  <a:srgbClr val="000000"/>
                </a:solidFill>
                <a:latin typeface="Times New Roman"/>
                <a:ea typeface="Times New Roman"/>
                <a:cs typeface="Times New Roman"/>
                <a:sym typeface="Times New Roman"/>
              </a:rPr>
              <a:t>Quad-X Configuration</a:t>
            </a:r>
            <a:endParaRPr sz="1508"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08">
                <a:solidFill>
                  <a:srgbClr val="000000"/>
                </a:solidFill>
                <a:latin typeface="Times New Roman"/>
                <a:ea typeface="Times New Roman"/>
                <a:cs typeface="Times New Roman"/>
                <a:sym typeface="Times New Roman"/>
              </a:rPr>
              <a:t>The selected X-frame layout places four propulsion units symmetrically around a central body. The payload, batteries, and major electronics are arranged around the center of gravity to support stable flight and balanced mass distribution.</a:t>
            </a:r>
            <a:endParaRPr sz="1308">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08" b="1">
                <a:solidFill>
                  <a:srgbClr val="000000"/>
                </a:solidFill>
                <a:latin typeface="Times New Roman"/>
                <a:ea typeface="Times New Roman"/>
                <a:cs typeface="Times New Roman"/>
                <a:sym typeface="Times New Roman"/>
              </a:rPr>
              <a:t>Main Elements</a:t>
            </a:r>
            <a:endParaRPr sz="1508" b="1">
              <a:solidFill>
                <a:srgbClr val="000000"/>
              </a:solidFill>
              <a:latin typeface="Times New Roman"/>
              <a:ea typeface="Times New Roman"/>
              <a:cs typeface="Times New Roman"/>
              <a:sym typeface="Times New Roman"/>
            </a:endParaRPr>
          </a:p>
          <a:p>
            <a:pPr marL="457200" lvl="0" indent="-311665" algn="l" rtl="0">
              <a:spcBef>
                <a:spcPts val="120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Structural frame</a:t>
            </a:r>
            <a:endParaRPr sz="1308">
              <a:solidFill>
                <a:srgbClr val="000000"/>
              </a:solidFill>
              <a:latin typeface="Times New Roman"/>
              <a:ea typeface="Times New Roman"/>
              <a:cs typeface="Times New Roman"/>
              <a:sym typeface="Times New Roman"/>
            </a:endParaRPr>
          </a:p>
          <a:p>
            <a:pPr marL="457200" lvl="0" indent="-311665" algn="l" rtl="0">
              <a:spcBef>
                <a:spcPts val="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Four propulsion units</a:t>
            </a:r>
            <a:endParaRPr sz="1308">
              <a:solidFill>
                <a:srgbClr val="000000"/>
              </a:solidFill>
              <a:latin typeface="Times New Roman"/>
              <a:ea typeface="Times New Roman"/>
              <a:cs typeface="Times New Roman"/>
              <a:sym typeface="Times New Roman"/>
            </a:endParaRPr>
          </a:p>
          <a:p>
            <a:pPr marL="457200" lvl="0" indent="-311665" algn="l" rtl="0">
              <a:spcBef>
                <a:spcPts val="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Central spray tank</a:t>
            </a:r>
            <a:endParaRPr sz="1308">
              <a:solidFill>
                <a:srgbClr val="000000"/>
              </a:solidFill>
              <a:latin typeface="Times New Roman"/>
              <a:ea typeface="Times New Roman"/>
              <a:cs typeface="Times New Roman"/>
              <a:sym typeface="Times New Roman"/>
            </a:endParaRPr>
          </a:p>
          <a:p>
            <a:pPr marL="457200" lvl="0" indent="-311665" algn="l" rtl="0">
              <a:spcBef>
                <a:spcPts val="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Battery and power system</a:t>
            </a:r>
            <a:endParaRPr sz="1308">
              <a:solidFill>
                <a:srgbClr val="000000"/>
              </a:solidFill>
              <a:latin typeface="Times New Roman"/>
              <a:ea typeface="Times New Roman"/>
              <a:cs typeface="Times New Roman"/>
              <a:sym typeface="Times New Roman"/>
            </a:endParaRPr>
          </a:p>
          <a:p>
            <a:pPr marL="457200" lvl="0" indent="-311665" algn="l" rtl="0">
              <a:spcBef>
                <a:spcPts val="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Flight-control electronics</a:t>
            </a:r>
            <a:endParaRPr sz="1308">
              <a:solidFill>
                <a:srgbClr val="000000"/>
              </a:solidFill>
              <a:latin typeface="Times New Roman"/>
              <a:ea typeface="Times New Roman"/>
              <a:cs typeface="Times New Roman"/>
              <a:sym typeface="Times New Roman"/>
            </a:endParaRPr>
          </a:p>
          <a:p>
            <a:pPr marL="457200" lvl="0" indent="-311665" algn="l" rtl="0">
              <a:spcBef>
                <a:spcPts val="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Navigation sensors</a:t>
            </a:r>
            <a:endParaRPr sz="1308">
              <a:solidFill>
                <a:srgbClr val="000000"/>
              </a:solidFill>
              <a:latin typeface="Times New Roman"/>
              <a:ea typeface="Times New Roman"/>
              <a:cs typeface="Times New Roman"/>
              <a:sym typeface="Times New Roman"/>
            </a:endParaRPr>
          </a:p>
          <a:p>
            <a:pPr marL="457200" lvl="0" indent="-311665" algn="l" rtl="0">
              <a:spcBef>
                <a:spcPts val="0"/>
              </a:spcBef>
              <a:spcAft>
                <a:spcPts val="0"/>
              </a:spcAft>
              <a:buClr>
                <a:srgbClr val="000000"/>
              </a:buClr>
              <a:buSzPts val="1308"/>
              <a:buFont typeface="Times New Roman"/>
              <a:buChar char="●"/>
            </a:pPr>
            <a:r>
              <a:rPr lang="en" sz="1308">
                <a:solidFill>
                  <a:srgbClr val="000000"/>
                </a:solidFill>
                <a:latin typeface="Times New Roman"/>
                <a:ea typeface="Times New Roman"/>
                <a:cs typeface="Times New Roman"/>
                <a:sym typeface="Times New Roman"/>
              </a:rPr>
              <a:t>Spray boom and nozzles</a:t>
            </a:r>
            <a:endParaRPr sz="1308">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08" b="1">
                <a:solidFill>
                  <a:srgbClr val="000000"/>
                </a:solidFill>
                <a:latin typeface="Times New Roman"/>
                <a:ea typeface="Times New Roman"/>
                <a:cs typeface="Times New Roman"/>
                <a:sym typeface="Times New Roman"/>
              </a:rPr>
              <a:t>System Concept</a:t>
            </a:r>
            <a:endParaRPr sz="1508"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08" b="1">
                <a:solidFill>
                  <a:srgbClr val="000000"/>
                </a:solidFill>
                <a:latin typeface="Times New Roman"/>
                <a:ea typeface="Times New Roman"/>
                <a:cs typeface="Times New Roman"/>
                <a:sym typeface="Times New Roman"/>
              </a:rPr>
              <a:t>Navigation → Flight Controller → Propulsion</a:t>
            </a:r>
            <a:endParaRPr sz="1308"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08" b="1">
                <a:solidFill>
                  <a:srgbClr val="000000"/>
                </a:solidFill>
                <a:latin typeface="Times New Roman"/>
                <a:ea typeface="Times New Roman"/>
                <a:cs typeface="Times New Roman"/>
                <a:sym typeface="Times New Roman"/>
              </a:rPr>
              <a:t>Tank → Pump → Boom → Nozzles</a:t>
            </a:r>
            <a:endParaRPr sz="1308"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1050">
              <a:solidFill>
                <a:srgbClr val="1F1F1F"/>
              </a:solidFill>
              <a:highlight>
                <a:srgbClr val="E9EEF6"/>
              </a:highlight>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p:cNvGrpSpPr/>
        <p:nvPr/>
      </p:nvGrpSpPr>
      <p:grpSpPr>
        <a:xfrm>
          <a:off x="0" y="0"/>
          <a:ext cx="0" cy="0"/>
          <a:chOff x="0" y="0"/>
          <a:chExt cx="0" cy="0"/>
        </a:xfrm>
      </p:grpSpPr>
      <p:grpSp>
        <p:nvGrpSpPr>
          <p:cNvPr id="128" name="Google Shape;128;p26"/>
          <p:cNvGrpSpPr/>
          <p:nvPr/>
        </p:nvGrpSpPr>
        <p:grpSpPr>
          <a:xfrm>
            <a:off x="-1" y="381006"/>
            <a:ext cx="1037855" cy="1016294"/>
            <a:chOff x="-1" y="381006"/>
            <a:chExt cx="1037855" cy="1016294"/>
          </a:xfrm>
        </p:grpSpPr>
        <p:sp>
          <p:nvSpPr>
            <p:cNvPr id="129" name="Google Shape;129;p26"/>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0" name="Google Shape;130;p26"/>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31" name="Google Shape;131;p26"/>
          <p:cNvSpPr txBox="1">
            <a:spLocks noGrp="1"/>
          </p:cNvSpPr>
          <p:nvPr>
            <p:ph type="title"/>
          </p:nvPr>
        </p:nvSpPr>
        <p:spPr>
          <a:xfrm>
            <a:off x="1297500" y="393750"/>
            <a:ext cx="7038900" cy="6132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2300" b="1">
                <a:solidFill>
                  <a:srgbClr val="000000"/>
                </a:solidFill>
                <a:latin typeface="Times New Roman"/>
                <a:ea typeface="Times New Roman"/>
                <a:cs typeface="Times New Roman"/>
                <a:sym typeface="Times New Roman"/>
              </a:rPr>
              <a:t>Propulsion System</a:t>
            </a:r>
            <a:endParaRPr sz="3000"/>
          </a:p>
        </p:txBody>
      </p:sp>
      <p:sp>
        <p:nvSpPr>
          <p:cNvPr id="132" name="Google Shape;132;p26"/>
          <p:cNvSpPr txBox="1">
            <a:spLocks noGrp="1"/>
          </p:cNvSpPr>
          <p:nvPr>
            <p:ph type="body" idx="1"/>
          </p:nvPr>
        </p:nvSpPr>
        <p:spPr>
          <a:xfrm>
            <a:off x="1297500" y="1095075"/>
            <a:ext cx="7038900" cy="40485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400" b="1">
                <a:solidFill>
                  <a:srgbClr val="000000"/>
                </a:solidFill>
                <a:latin typeface="Times New Roman"/>
                <a:ea typeface="Times New Roman"/>
                <a:cs typeface="Times New Roman"/>
                <a:sym typeface="Times New Roman"/>
              </a:rPr>
              <a:t>Heavy-Lift Propulsion</a:t>
            </a:r>
            <a:endParaRPr sz="14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a:solidFill>
                  <a:srgbClr val="000000"/>
                </a:solidFill>
                <a:latin typeface="Times New Roman"/>
                <a:ea typeface="Times New Roman"/>
                <a:cs typeface="Times New Roman"/>
                <a:sym typeface="Times New Roman"/>
              </a:rPr>
              <a:t>At an MTOW of approximately </a:t>
            </a:r>
            <a:r>
              <a:rPr lang="en" sz="1200" b="1">
                <a:solidFill>
                  <a:srgbClr val="000000"/>
                </a:solidFill>
                <a:latin typeface="Times New Roman"/>
                <a:ea typeface="Times New Roman"/>
                <a:cs typeface="Times New Roman"/>
                <a:sym typeface="Times New Roman"/>
              </a:rPr>
              <a:t>80 kg</a:t>
            </a:r>
            <a:r>
              <a:rPr lang="en" sz="1200">
                <a:solidFill>
                  <a:srgbClr val="000000"/>
                </a:solidFill>
                <a:latin typeface="Times New Roman"/>
                <a:ea typeface="Times New Roman"/>
                <a:cs typeface="Times New Roman"/>
                <a:sym typeface="Times New Roman"/>
              </a:rPr>
              <a:t>, the propulsion system must generate sufficient total thrust while retaining a practical thrust margin. The propulsion sizing was therefore based on rotor thrust, propeller operating conditions, motor power, and hover requirements.</a:t>
            </a:r>
            <a:endParaRPr sz="120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400" b="1">
                <a:solidFill>
                  <a:srgbClr val="000000"/>
                </a:solidFill>
                <a:latin typeface="Times New Roman"/>
                <a:ea typeface="Times New Roman"/>
                <a:cs typeface="Times New Roman"/>
                <a:sym typeface="Times New Roman"/>
              </a:rPr>
              <a:t>Design Specifications</a:t>
            </a:r>
            <a:endParaRPr sz="1400" b="1">
              <a:solidFill>
                <a:srgbClr val="000000"/>
              </a:solidFill>
              <a:latin typeface="Times New Roman"/>
              <a:ea typeface="Times New Roman"/>
              <a:cs typeface="Times New Roman"/>
              <a:sym typeface="Times New Roman"/>
            </a:endParaRPr>
          </a:p>
          <a:p>
            <a:pPr marL="457200" lvl="0" indent="-304800" algn="l" rtl="0">
              <a:spcBef>
                <a:spcPts val="1200"/>
              </a:spcBef>
              <a:spcAft>
                <a:spcPts val="0"/>
              </a:spcAft>
              <a:buClr>
                <a:srgbClr val="000000"/>
              </a:buClr>
              <a:buSzPts val="1200"/>
              <a:buFont typeface="Arial"/>
              <a:buChar char="●"/>
            </a:pPr>
            <a:r>
              <a:rPr lang="en" sz="1200" b="1">
                <a:solidFill>
                  <a:srgbClr val="000000"/>
                </a:solidFill>
                <a:latin typeface="Times New Roman"/>
                <a:ea typeface="Times New Roman"/>
                <a:cs typeface="Times New Roman"/>
                <a:sym typeface="Times New Roman"/>
              </a:rPr>
              <a:t>Configuration:</a:t>
            </a:r>
            <a:r>
              <a:rPr lang="en" sz="1200">
                <a:solidFill>
                  <a:srgbClr val="000000"/>
                </a:solidFill>
                <a:latin typeface="Times New Roman"/>
                <a:ea typeface="Times New Roman"/>
                <a:cs typeface="Times New Roman"/>
                <a:sym typeface="Times New Roman"/>
              </a:rPr>
              <a:t> 4 rotors</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Arial"/>
              <a:buChar char="●"/>
            </a:pPr>
            <a:r>
              <a:rPr lang="en" sz="1200" b="1">
                <a:solidFill>
                  <a:srgbClr val="000000"/>
                </a:solidFill>
                <a:latin typeface="Times New Roman"/>
                <a:ea typeface="Times New Roman"/>
                <a:cs typeface="Times New Roman"/>
                <a:sym typeface="Times New Roman"/>
              </a:rPr>
              <a:t>Operating condition:</a:t>
            </a:r>
            <a:r>
              <a:rPr lang="en" sz="1200">
                <a:solidFill>
                  <a:srgbClr val="000000"/>
                </a:solidFill>
                <a:latin typeface="Times New Roman"/>
                <a:ea typeface="Times New Roman"/>
                <a:cs typeface="Times New Roman"/>
                <a:sym typeface="Times New Roman"/>
              </a:rPr>
              <a:t> Hover + forward flight</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Arial"/>
              <a:buChar char="●"/>
            </a:pPr>
            <a:r>
              <a:rPr lang="en" sz="1200" b="1">
                <a:solidFill>
                  <a:srgbClr val="000000"/>
                </a:solidFill>
                <a:latin typeface="Times New Roman"/>
                <a:ea typeface="Times New Roman"/>
                <a:cs typeface="Times New Roman"/>
                <a:sym typeface="Times New Roman"/>
              </a:rPr>
              <a:t>Design point:</a:t>
            </a:r>
            <a:r>
              <a:rPr lang="en" sz="1200">
                <a:solidFill>
                  <a:srgbClr val="000000"/>
                </a:solidFill>
                <a:latin typeface="Times New Roman"/>
                <a:ea typeface="Times New Roman"/>
                <a:cs typeface="Times New Roman"/>
                <a:sym typeface="Times New Roman"/>
              </a:rPr>
              <a:t> Full aircraft mass</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Arial"/>
              <a:buChar char="●"/>
            </a:pPr>
            <a:r>
              <a:rPr lang="en" sz="1200" b="1">
                <a:solidFill>
                  <a:srgbClr val="000000"/>
                </a:solidFill>
                <a:latin typeface="Times New Roman"/>
                <a:ea typeface="Times New Roman"/>
                <a:cs typeface="Times New Roman"/>
                <a:sym typeface="Times New Roman"/>
              </a:rPr>
              <a:t>Sizing basis:</a:t>
            </a:r>
            <a:r>
              <a:rPr lang="en" sz="1200">
                <a:solidFill>
                  <a:srgbClr val="000000"/>
                </a:solidFill>
                <a:latin typeface="Times New Roman"/>
                <a:ea typeface="Times New Roman"/>
                <a:cs typeface="Times New Roman"/>
                <a:sym typeface="Times New Roman"/>
              </a:rPr>
              <a:t> Required thrust + safety margin</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Arial"/>
              <a:buChar char="●"/>
            </a:pPr>
            <a:r>
              <a:rPr lang="en" sz="1200" b="1">
                <a:solidFill>
                  <a:srgbClr val="000000"/>
                </a:solidFill>
                <a:latin typeface="Times New Roman"/>
                <a:ea typeface="Times New Roman"/>
                <a:cs typeface="Times New Roman"/>
                <a:sym typeface="Times New Roman"/>
              </a:rPr>
              <a:t>Propeller selection:</a:t>
            </a:r>
            <a:r>
              <a:rPr lang="en" sz="1200">
                <a:solidFill>
                  <a:srgbClr val="000000"/>
                </a:solidFill>
                <a:latin typeface="Times New Roman"/>
                <a:ea typeface="Times New Roman"/>
                <a:cs typeface="Times New Roman"/>
                <a:sym typeface="Times New Roman"/>
              </a:rPr>
              <a:t> Based on the calculated operating point</a:t>
            </a:r>
            <a:endParaRPr sz="1200">
              <a:solidFill>
                <a:srgbClr val="000000"/>
              </a:solidFill>
              <a:latin typeface="Times New Roman"/>
              <a:ea typeface="Times New Roman"/>
              <a:cs typeface="Times New Roman"/>
              <a:sym typeface="Times New Roman"/>
            </a:endParaRPr>
          </a:p>
          <a:p>
            <a:pPr marL="457200" lvl="0" indent="-304800" algn="l" rtl="0">
              <a:spcBef>
                <a:spcPts val="0"/>
              </a:spcBef>
              <a:spcAft>
                <a:spcPts val="0"/>
              </a:spcAft>
              <a:buClr>
                <a:srgbClr val="000000"/>
              </a:buClr>
              <a:buSzPts val="1200"/>
              <a:buFont typeface="Arial"/>
              <a:buChar char="●"/>
            </a:pPr>
            <a:r>
              <a:rPr lang="en" sz="1200" b="1">
                <a:solidFill>
                  <a:srgbClr val="000000"/>
                </a:solidFill>
                <a:latin typeface="Times New Roman"/>
                <a:ea typeface="Times New Roman"/>
                <a:cs typeface="Times New Roman"/>
                <a:sym typeface="Times New Roman"/>
              </a:rPr>
              <a:t>Motor selection:</a:t>
            </a:r>
            <a:r>
              <a:rPr lang="en" sz="1200">
                <a:solidFill>
                  <a:srgbClr val="000000"/>
                </a:solidFill>
                <a:latin typeface="Times New Roman"/>
                <a:ea typeface="Times New Roman"/>
                <a:cs typeface="Times New Roman"/>
                <a:sym typeface="Times New Roman"/>
              </a:rPr>
              <a:t> Matched to required thrust and power</a:t>
            </a:r>
            <a:endParaRPr sz="120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400" b="1">
                <a:solidFill>
                  <a:srgbClr val="000000"/>
                </a:solidFill>
                <a:latin typeface="Times New Roman"/>
                <a:ea typeface="Times New Roman"/>
                <a:cs typeface="Times New Roman"/>
                <a:sym typeface="Times New Roman"/>
              </a:rPr>
              <a:t>Sizing Process</a:t>
            </a:r>
            <a:endParaRPr sz="14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200" b="1">
                <a:solidFill>
                  <a:srgbClr val="000000"/>
                </a:solidFill>
                <a:latin typeface="Times New Roman"/>
                <a:ea typeface="Times New Roman"/>
                <a:cs typeface="Times New Roman"/>
                <a:sym typeface="Times New Roman"/>
              </a:rPr>
              <a:t>80 kg Aircraft → Required Thrust → Rotor Sizing → Motor → Propeller</a:t>
            </a:r>
            <a:endParaRPr sz="12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600"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1600">
              <a:solidFill>
                <a:schemeClr val="dk1"/>
              </a:solidFill>
              <a:highlight>
                <a:schemeClr val="dk1"/>
              </a:highlight>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6"/>
        <p:cNvGrpSpPr/>
        <p:nvPr/>
      </p:nvGrpSpPr>
      <p:grpSpPr>
        <a:xfrm>
          <a:off x="0" y="0"/>
          <a:ext cx="0" cy="0"/>
          <a:chOff x="0" y="0"/>
          <a:chExt cx="0" cy="0"/>
        </a:xfrm>
      </p:grpSpPr>
      <p:grpSp>
        <p:nvGrpSpPr>
          <p:cNvPr id="137" name="Google Shape;137;p27"/>
          <p:cNvGrpSpPr/>
          <p:nvPr/>
        </p:nvGrpSpPr>
        <p:grpSpPr>
          <a:xfrm>
            <a:off x="-1" y="381001"/>
            <a:ext cx="1037855" cy="1016299"/>
            <a:chOff x="-1" y="381001"/>
            <a:chExt cx="1037855" cy="1016299"/>
          </a:xfrm>
        </p:grpSpPr>
        <p:sp>
          <p:nvSpPr>
            <p:cNvPr id="138" name="Google Shape;138;p2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7"/>
            <p:cNvSpPr/>
            <p:nvPr/>
          </p:nvSpPr>
          <p:spPr>
            <a:xfrm rot="-5400000">
              <a:off x="-1" y="381006"/>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41" name="Google Shape;141;p27"/>
            <p:cNvSpPr/>
            <p:nvPr/>
          </p:nvSpPr>
          <p:spPr>
            <a:xfrm flipH="1">
              <a:off x="229054"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42" name="Google Shape;142;p27"/>
          <p:cNvSpPr txBox="1">
            <a:spLocks noGrp="1"/>
          </p:cNvSpPr>
          <p:nvPr>
            <p:ph type="title"/>
          </p:nvPr>
        </p:nvSpPr>
        <p:spPr>
          <a:xfrm>
            <a:off x="1297500" y="393750"/>
            <a:ext cx="7038900" cy="5580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2500" b="1">
                <a:solidFill>
                  <a:schemeClr val="dk1"/>
                </a:solidFill>
                <a:latin typeface="Times New Roman"/>
                <a:ea typeface="Times New Roman"/>
                <a:cs typeface="Times New Roman"/>
                <a:sym typeface="Times New Roman"/>
              </a:rPr>
              <a:t>Power &amp; Energy System </a:t>
            </a:r>
            <a:endParaRPr sz="2500" b="1">
              <a:solidFill>
                <a:schemeClr val="dk1"/>
              </a:solidFill>
              <a:latin typeface="Times New Roman"/>
              <a:ea typeface="Times New Roman"/>
              <a:cs typeface="Times New Roman"/>
              <a:sym typeface="Times New Roman"/>
            </a:endParaRPr>
          </a:p>
        </p:txBody>
      </p:sp>
      <p:sp>
        <p:nvSpPr>
          <p:cNvPr id="143" name="Google Shape;143;p27"/>
          <p:cNvSpPr txBox="1">
            <a:spLocks noGrp="1"/>
          </p:cNvSpPr>
          <p:nvPr>
            <p:ph type="body" idx="1"/>
          </p:nvPr>
        </p:nvSpPr>
        <p:spPr>
          <a:xfrm>
            <a:off x="1297500" y="1095075"/>
            <a:ext cx="7038900" cy="4296600"/>
          </a:xfrm>
          <a:prstGeom prst="rect">
            <a:avLst/>
          </a:prstGeom>
        </p:spPr>
        <p:txBody>
          <a:bodyPr spcFirstLastPara="1" wrap="square" lIns="91425" tIns="91425" rIns="91425" bIns="91425" anchor="t" anchorCtr="0">
            <a:normAutofit fontScale="70000" lnSpcReduction="20000"/>
          </a:bodyPr>
          <a:lstStyle/>
          <a:p>
            <a:pPr marL="0" lvl="0" indent="0" algn="l" rtl="0">
              <a:spcBef>
                <a:spcPts val="1400"/>
              </a:spcBef>
              <a:spcAft>
                <a:spcPts val="0"/>
              </a:spcAft>
              <a:buNone/>
            </a:pPr>
            <a:r>
              <a:rPr lang="en" sz="2312" b="1">
                <a:solidFill>
                  <a:srgbClr val="000000"/>
                </a:solidFill>
                <a:latin typeface="Times New Roman"/>
                <a:ea typeface="Times New Roman"/>
                <a:cs typeface="Times New Roman"/>
                <a:sym typeface="Times New Roman"/>
              </a:rPr>
              <a:t>B</a:t>
            </a:r>
            <a:r>
              <a:rPr lang="en" sz="2012" b="1">
                <a:solidFill>
                  <a:srgbClr val="000000"/>
                </a:solidFill>
                <a:latin typeface="Times New Roman"/>
                <a:ea typeface="Times New Roman"/>
                <a:cs typeface="Times New Roman"/>
                <a:sym typeface="Times New Roman"/>
              </a:rPr>
              <a:t>alancing Power and Mass</a:t>
            </a:r>
            <a:endParaRPr sz="2012"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804">
                <a:solidFill>
                  <a:srgbClr val="000000"/>
                </a:solidFill>
                <a:latin typeface="Times New Roman"/>
                <a:ea typeface="Times New Roman"/>
                <a:cs typeface="Times New Roman"/>
                <a:sym typeface="Times New Roman"/>
              </a:rPr>
              <a:t>The propulsion system creates the largest electrical demand, while avionics, sensors, and spraying equipment add additional loads. The selected </a:t>
            </a:r>
            <a:r>
              <a:rPr lang="en" sz="1804" b="1">
                <a:solidFill>
                  <a:srgbClr val="000000"/>
                </a:solidFill>
                <a:latin typeface="Times New Roman"/>
                <a:ea typeface="Times New Roman"/>
                <a:cs typeface="Times New Roman"/>
                <a:sym typeface="Times New Roman"/>
              </a:rPr>
              <a:t>dual-LiPo battery system of approximately 8 kg</a:t>
            </a:r>
            <a:r>
              <a:rPr lang="en" sz="1804">
                <a:solidFill>
                  <a:srgbClr val="000000"/>
                </a:solidFill>
                <a:latin typeface="Times New Roman"/>
                <a:ea typeface="Times New Roman"/>
                <a:cs typeface="Times New Roman"/>
                <a:sym typeface="Times New Roman"/>
              </a:rPr>
              <a:t> was incorporated into the aircraft mass and power budget.</a:t>
            </a:r>
            <a:endParaRPr sz="1804">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004" b="1">
                <a:solidFill>
                  <a:srgbClr val="000000"/>
                </a:solidFill>
                <a:latin typeface="Times New Roman"/>
                <a:ea typeface="Times New Roman"/>
                <a:cs typeface="Times New Roman"/>
                <a:sym typeface="Times New Roman"/>
              </a:rPr>
              <a:t>Power Architecture</a:t>
            </a:r>
            <a:endParaRPr sz="2004"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804" b="1">
                <a:solidFill>
                  <a:srgbClr val="000000"/>
                </a:solidFill>
                <a:latin typeface="Times New Roman"/>
                <a:ea typeface="Times New Roman"/>
                <a:cs typeface="Times New Roman"/>
                <a:sym typeface="Times New Roman"/>
              </a:rPr>
              <a:t>Dual LiPo → Power Distribution → ESCs → Motors</a:t>
            </a:r>
            <a:endParaRPr sz="1804"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804" b="1">
                <a:solidFill>
                  <a:srgbClr val="000000"/>
                </a:solidFill>
                <a:latin typeface="Times New Roman"/>
                <a:ea typeface="Times New Roman"/>
                <a:cs typeface="Times New Roman"/>
                <a:sym typeface="Times New Roman"/>
              </a:rPr>
              <a:t>Battery → Regulators → Avionics + Sensors + Spray System</a:t>
            </a:r>
            <a:endParaRPr sz="1804" b="1">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004" b="1">
                <a:solidFill>
                  <a:srgbClr val="000000"/>
                </a:solidFill>
                <a:latin typeface="Times New Roman"/>
                <a:ea typeface="Times New Roman"/>
                <a:cs typeface="Times New Roman"/>
                <a:sym typeface="Times New Roman"/>
              </a:rPr>
              <a:t>Design Considerations</a:t>
            </a:r>
            <a:endParaRPr sz="2004" b="1">
              <a:solidFill>
                <a:srgbClr val="000000"/>
              </a:solidFill>
              <a:latin typeface="Times New Roman"/>
              <a:ea typeface="Times New Roman"/>
              <a:cs typeface="Times New Roman"/>
              <a:sym typeface="Times New Roman"/>
            </a:endParaRPr>
          </a:p>
          <a:p>
            <a:pPr marL="457200" lvl="0" indent="-291597" algn="l" rtl="0">
              <a:spcBef>
                <a:spcPts val="1200"/>
              </a:spcBef>
              <a:spcAft>
                <a:spcPts val="0"/>
              </a:spcAft>
              <a:buClr>
                <a:srgbClr val="000000"/>
              </a:buClr>
              <a:buSzPct val="100000"/>
              <a:buFont typeface="Times New Roman"/>
              <a:buChar char="●"/>
            </a:pPr>
            <a:r>
              <a:rPr lang="en" sz="1804">
                <a:solidFill>
                  <a:srgbClr val="000000"/>
                </a:solidFill>
                <a:latin typeface="Times New Roman"/>
                <a:ea typeface="Times New Roman"/>
                <a:cs typeface="Times New Roman"/>
                <a:sym typeface="Times New Roman"/>
              </a:rPr>
              <a:t>Propulsion power demand</a:t>
            </a:r>
            <a:endParaRPr sz="1804">
              <a:solidFill>
                <a:srgbClr val="000000"/>
              </a:solidFill>
              <a:latin typeface="Times New Roman"/>
              <a:ea typeface="Times New Roman"/>
              <a:cs typeface="Times New Roman"/>
              <a:sym typeface="Times New Roman"/>
            </a:endParaRPr>
          </a:p>
          <a:p>
            <a:pPr marL="457200" lvl="0" indent="-291597" algn="l" rtl="0">
              <a:spcBef>
                <a:spcPts val="0"/>
              </a:spcBef>
              <a:spcAft>
                <a:spcPts val="0"/>
              </a:spcAft>
              <a:buClr>
                <a:srgbClr val="000000"/>
              </a:buClr>
              <a:buSzPct val="100000"/>
              <a:buFont typeface="Times New Roman"/>
              <a:buChar char="●"/>
            </a:pPr>
            <a:r>
              <a:rPr lang="en" sz="1804">
                <a:solidFill>
                  <a:srgbClr val="000000"/>
                </a:solidFill>
                <a:latin typeface="Times New Roman"/>
                <a:ea typeface="Times New Roman"/>
                <a:cs typeface="Times New Roman"/>
                <a:sym typeface="Times New Roman"/>
              </a:rPr>
              <a:t>Battery capacity</a:t>
            </a:r>
            <a:endParaRPr sz="1804">
              <a:solidFill>
                <a:srgbClr val="000000"/>
              </a:solidFill>
              <a:latin typeface="Times New Roman"/>
              <a:ea typeface="Times New Roman"/>
              <a:cs typeface="Times New Roman"/>
              <a:sym typeface="Times New Roman"/>
            </a:endParaRPr>
          </a:p>
          <a:p>
            <a:pPr marL="457200" lvl="0" indent="-291597" algn="l" rtl="0">
              <a:spcBef>
                <a:spcPts val="0"/>
              </a:spcBef>
              <a:spcAft>
                <a:spcPts val="0"/>
              </a:spcAft>
              <a:buClr>
                <a:srgbClr val="000000"/>
              </a:buClr>
              <a:buSzPct val="100000"/>
              <a:buFont typeface="Times New Roman"/>
              <a:buChar char="●"/>
            </a:pPr>
            <a:r>
              <a:rPr lang="en" sz="1804">
                <a:solidFill>
                  <a:srgbClr val="000000"/>
                </a:solidFill>
                <a:latin typeface="Times New Roman"/>
                <a:ea typeface="Times New Roman"/>
                <a:cs typeface="Times New Roman"/>
                <a:sym typeface="Times New Roman"/>
              </a:rPr>
              <a:t>Battery mass</a:t>
            </a:r>
            <a:endParaRPr sz="1804">
              <a:solidFill>
                <a:srgbClr val="000000"/>
              </a:solidFill>
              <a:latin typeface="Times New Roman"/>
              <a:ea typeface="Times New Roman"/>
              <a:cs typeface="Times New Roman"/>
              <a:sym typeface="Times New Roman"/>
            </a:endParaRPr>
          </a:p>
          <a:p>
            <a:pPr marL="457200" lvl="0" indent="-291597" algn="l" rtl="0">
              <a:spcBef>
                <a:spcPts val="0"/>
              </a:spcBef>
              <a:spcAft>
                <a:spcPts val="0"/>
              </a:spcAft>
              <a:buClr>
                <a:srgbClr val="000000"/>
              </a:buClr>
              <a:buSzPct val="100000"/>
              <a:buFont typeface="Times New Roman"/>
              <a:buChar char="●"/>
            </a:pPr>
            <a:r>
              <a:rPr lang="en" sz="1804">
                <a:solidFill>
                  <a:srgbClr val="000000"/>
                </a:solidFill>
                <a:latin typeface="Times New Roman"/>
                <a:ea typeface="Times New Roman"/>
                <a:cs typeface="Times New Roman"/>
                <a:sym typeface="Times New Roman"/>
              </a:rPr>
              <a:t>Peak current demand</a:t>
            </a:r>
            <a:endParaRPr sz="1804">
              <a:solidFill>
                <a:srgbClr val="000000"/>
              </a:solidFill>
              <a:latin typeface="Times New Roman"/>
              <a:ea typeface="Times New Roman"/>
              <a:cs typeface="Times New Roman"/>
              <a:sym typeface="Times New Roman"/>
            </a:endParaRPr>
          </a:p>
          <a:p>
            <a:pPr marL="457200" lvl="0" indent="-291597" algn="l" rtl="0">
              <a:spcBef>
                <a:spcPts val="0"/>
              </a:spcBef>
              <a:spcAft>
                <a:spcPts val="0"/>
              </a:spcAft>
              <a:buClr>
                <a:srgbClr val="000000"/>
              </a:buClr>
              <a:buSzPct val="100000"/>
              <a:buFont typeface="Times New Roman"/>
              <a:buChar char="●"/>
            </a:pPr>
            <a:r>
              <a:rPr lang="en" sz="1804">
                <a:solidFill>
                  <a:srgbClr val="000000"/>
                </a:solidFill>
                <a:latin typeface="Times New Roman"/>
                <a:ea typeface="Times New Roman"/>
                <a:cs typeface="Times New Roman"/>
                <a:sym typeface="Times New Roman"/>
              </a:rPr>
              <a:t>Avionics power</a:t>
            </a:r>
            <a:endParaRPr sz="1804">
              <a:solidFill>
                <a:srgbClr val="000000"/>
              </a:solidFill>
              <a:latin typeface="Times New Roman"/>
              <a:ea typeface="Times New Roman"/>
              <a:cs typeface="Times New Roman"/>
              <a:sym typeface="Times New Roman"/>
            </a:endParaRPr>
          </a:p>
          <a:p>
            <a:pPr marL="457200" lvl="0" indent="-291597" algn="l" rtl="0">
              <a:spcBef>
                <a:spcPts val="0"/>
              </a:spcBef>
              <a:spcAft>
                <a:spcPts val="0"/>
              </a:spcAft>
              <a:buClr>
                <a:srgbClr val="000000"/>
              </a:buClr>
              <a:buSzPct val="100000"/>
              <a:buFont typeface="Times New Roman"/>
              <a:buChar char="●"/>
            </a:pPr>
            <a:r>
              <a:rPr lang="en" sz="1804">
                <a:solidFill>
                  <a:srgbClr val="000000"/>
                </a:solidFill>
                <a:latin typeface="Times New Roman"/>
                <a:ea typeface="Times New Roman"/>
                <a:cs typeface="Times New Roman"/>
                <a:sym typeface="Times New Roman"/>
              </a:rPr>
              <a:t>Mission energy requirement</a:t>
            </a:r>
            <a:endParaRPr sz="1804">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804">
                <a:solidFill>
                  <a:srgbClr val="000000"/>
                </a:solidFill>
                <a:latin typeface="Times New Roman"/>
                <a:ea typeface="Times New Roman"/>
                <a:cs typeface="Times New Roman"/>
                <a:sym typeface="Times New Roman"/>
              </a:rPr>
              <a:t>The battery selection therefore represents a compromise between </a:t>
            </a:r>
            <a:r>
              <a:rPr lang="en" sz="1804" b="1">
                <a:solidFill>
                  <a:srgbClr val="000000"/>
                </a:solidFill>
                <a:latin typeface="Times New Roman"/>
                <a:ea typeface="Times New Roman"/>
                <a:cs typeface="Times New Roman"/>
                <a:sym typeface="Times New Roman"/>
              </a:rPr>
              <a:t>energy availability, endurance, and aircraft mass</a:t>
            </a:r>
            <a:r>
              <a:rPr lang="en" sz="1804">
                <a:solidFill>
                  <a:srgbClr val="000000"/>
                </a:solidFill>
                <a:latin typeface="Times New Roman"/>
                <a:ea typeface="Times New Roman"/>
                <a:cs typeface="Times New Roman"/>
                <a:sym typeface="Times New Roman"/>
              </a:rPr>
              <a:t>.</a:t>
            </a:r>
            <a:endParaRPr sz="1804">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endParaRPr sz="1600" b="1">
              <a:solidFill>
                <a:srgbClr val="000000"/>
              </a:solidFill>
              <a:latin typeface="Times New Roman"/>
              <a:ea typeface="Times New Roman"/>
              <a:cs typeface="Times New Roman"/>
              <a:sym typeface="Times New Roman"/>
            </a:endParaRPr>
          </a:p>
          <a:p>
            <a:pPr marL="0" lvl="0" indent="0" algn="l" rtl="0">
              <a:spcBef>
                <a:spcPts val="400"/>
              </a:spcBef>
              <a:spcAft>
                <a:spcPts val="1200"/>
              </a:spcAft>
              <a:buNone/>
            </a:pP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7"/>
        <p:cNvGrpSpPr/>
        <p:nvPr/>
      </p:nvGrpSpPr>
      <p:grpSpPr>
        <a:xfrm>
          <a:off x="0" y="0"/>
          <a:ext cx="0" cy="0"/>
          <a:chOff x="0" y="0"/>
          <a:chExt cx="0" cy="0"/>
        </a:xfrm>
      </p:grpSpPr>
      <p:grpSp>
        <p:nvGrpSpPr>
          <p:cNvPr id="148" name="Google Shape;148;p28"/>
          <p:cNvGrpSpPr/>
          <p:nvPr/>
        </p:nvGrpSpPr>
        <p:grpSpPr>
          <a:xfrm>
            <a:off x="-1" y="381006"/>
            <a:ext cx="1037855" cy="1016294"/>
            <a:chOff x="-1" y="381006"/>
            <a:chExt cx="1037855" cy="1016294"/>
          </a:xfrm>
        </p:grpSpPr>
        <p:sp>
          <p:nvSpPr>
            <p:cNvPr id="149" name="Google Shape;149;p28"/>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0" name="Google Shape;150;p28"/>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51" name="Google Shape;151;p28"/>
          <p:cNvSpPr txBox="1">
            <a:spLocks noGrp="1"/>
          </p:cNvSpPr>
          <p:nvPr>
            <p:ph type="title"/>
          </p:nvPr>
        </p:nvSpPr>
        <p:spPr>
          <a:xfrm>
            <a:off x="1297500" y="393750"/>
            <a:ext cx="7038900" cy="7014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2126" b="1">
                <a:solidFill>
                  <a:srgbClr val="000000"/>
                </a:solidFill>
                <a:latin typeface="Times New Roman"/>
                <a:ea typeface="Times New Roman"/>
                <a:cs typeface="Times New Roman"/>
                <a:sym typeface="Times New Roman"/>
              </a:rPr>
              <a:t>Flight Performance</a:t>
            </a:r>
            <a:endParaRPr/>
          </a:p>
        </p:txBody>
      </p:sp>
      <p:sp>
        <p:nvSpPr>
          <p:cNvPr id="152" name="Google Shape;152;p28"/>
          <p:cNvSpPr txBox="1">
            <a:spLocks noGrp="1"/>
          </p:cNvSpPr>
          <p:nvPr>
            <p:ph type="body" idx="1"/>
          </p:nvPr>
        </p:nvSpPr>
        <p:spPr>
          <a:xfrm>
            <a:off x="1231400" y="1095150"/>
            <a:ext cx="7846500" cy="4054200"/>
          </a:xfrm>
          <a:prstGeom prst="rect">
            <a:avLst/>
          </a:prstGeom>
        </p:spPr>
        <p:txBody>
          <a:bodyPr spcFirstLastPara="1" wrap="square" lIns="91425" tIns="91425" rIns="91425" bIns="91425" anchor="t" anchorCtr="0">
            <a:normAutofit fontScale="85000" lnSpcReduction="20000"/>
          </a:bodyPr>
          <a:lstStyle/>
          <a:p>
            <a:pPr marL="0" lvl="0" indent="0" algn="l" rtl="0">
              <a:spcBef>
                <a:spcPts val="1400"/>
              </a:spcBef>
              <a:spcAft>
                <a:spcPts val="0"/>
              </a:spcAft>
              <a:buNone/>
            </a:pPr>
            <a:r>
              <a:rPr lang="en" sz="1992" b="1">
                <a:solidFill>
                  <a:srgbClr val="000000"/>
                </a:solidFill>
                <a:latin typeface="Times New Roman"/>
                <a:ea typeface="Times New Roman"/>
                <a:cs typeface="Times New Roman"/>
                <a:sym typeface="Times New Roman"/>
              </a:rPr>
              <a:t>Designed for Agricultural Flight</a:t>
            </a:r>
            <a:endParaRPr sz="1992"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663">
                <a:solidFill>
                  <a:srgbClr val="000000"/>
                </a:solidFill>
                <a:latin typeface="Times New Roman"/>
                <a:ea typeface="Times New Roman"/>
                <a:cs typeface="Times New Roman"/>
                <a:sym typeface="Times New Roman"/>
              </a:rPr>
              <a:t>The UAV is optimized for controlled, low-speed agricultural operation rather than maximum speed. Maintaining stable altitude, attitude, and forward motion is important because aircraft movement directly affects spray coverage.</a:t>
            </a:r>
            <a:endParaRPr sz="1663">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734" b="1">
                <a:solidFill>
                  <a:srgbClr val="000000"/>
                </a:solidFill>
                <a:latin typeface="Times New Roman"/>
                <a:ea typeface="Times New Roman"/>
                <a:cs typeface="Times New Roman"/>
                <a:sym typeface="Times New Roman"/>
              </a:rPr>
              <a:t>Performance Specifications</a:t>
            </a:r>
            <a:endParaRPr sz="1734" b="1">
              <a:solidFill>
                <a:srgbClr val="000000"/>
              </a:solidFill>
              <a:latin typeface="Times New Roman"/>
              <a:ea typeface="Times New Roman"/>
              <a:cs typeface="Times New Roman"/>
              <a:sym typeface="Times New Roman"/>
            </a:endParaRPr>
          </a:p>
          <a:p>
            <a:pPr marL="457200" lvl="0" indent="-304085" algn="l" rtl="0">
              <a:spcBef>
                <a:spcPts val="1200"/>
              </a:spcBef>
              <a:spcAft>
                <a:spcPts val="0"/>
              </a:spcAft>
              <a:buClr>
                <a:srgbClr val="000000"/>
              </a:buClr>
              <a:buSzPct val="100000"/>
              <a:buFont typeface="Arial"/>
              <a:buChar char="●"/>
            </a:pPr>
            <a:r>
              <a:rPr lang="en" sz="1534" b="1">
                <a:solidFill>
                  <a:srgbClr val="000000"/>
                </a:solidFill>
                <a:latin typeface="Times New Roman"/>
                <a:ea typeface="Times New Roman"/>
                <a:cs typeface="Times New Roman"/>
                <a:sym typeface="Times New Roman"/>
              </a:rPr>
              <a:t>Operating Speed:</a:t>
            </a:r>
            <a:r>
              <a:rPr lang="en" sz="1534">
                <a:solidFill>
                  <a:srgbClr val="000000"/>
                </a:solidFill>
                <a:latin typeface="Times New Roman"/>
                <a:ea typeface="Times New Roman"/>
                <a:cs typeface="Times New Roman"/>
                <a:sym typeface="Times New Roman"/>
              </a:rPr>
              <a:t> 5–7 m/s</a:t>
            </a:r>
            <a:endParaRPr sz="1534">
              <a:solidFill>
                <a:srgbClr val="000000"/>
              </a:solidFill>
              <a:latin typeface="Times New Roman"/>
              <a:ea typeface="Times New Roman"/>
              <a:cs typeface="Times New Roman"/>
              <a:sym typeface="Times New Roman"/>
            </a:endParaRPr>
          </a:p>
          <a:p>
            <a:pPr marL="457200" lvl="0" indent="-304085" algn="l" rtl="0">
              <a:spcBef>
                <a:spcPts val="0"/>
              </a:spcBef>
              <a:spcAft>
                <a:spcPts val="0"/>
              </a:spcAft>
              <a:buClr>
                <a:srgbClr val="000000"/>
              </a:buClr>
              <a:buSzPct val="100000"/>
              <a:buFont typeface="Arial"/>
              <a:buChar char="●"/>
            </a:pPr>
            <a:r>
              <a:rPr lang="en" sz="1534" b="1">
                <a:solidFill>
                  <a:srgbClr val="000000"/>
                </a:solidFill>
                <a:latin typeface="Times New Roman"/>
                <a:ea typeface="Times New Roman"/>
                <a:cs typeface="Times New Roman"/>
                <a:sym typeface="Times New Roman"/>
              </a:rPr>
              <a:t>Spray Width:</a:t>
            </a:r>
            <a:r>
              <a:rPr lang="en" sz="1534">
                <a:solidFill>
                  <a:srgbClr val="000000"/>
                </a:solidFill>
                <a:latin typeface="Times New Roman"/>
                <a:ea typeface="Times New Roman"/>
                <a:cs typeface="Times New Roman"/>
                <a:sym typeface="Times New Roman"/>
              </a:rPr>
              <a:t> ~5.5–6 m</a:t>
            </a:r>
            <a:endParaRPr sz="1534">
              <a:solidFill>
                <a:srgbClr val="000000"/>
              </a:solidFill>
              <a:latin typeface="Times New Roman"/>
              <a:ea typeface="Times New Roman"/>
              <a:cs typeface="Times New Roman"/>
              <a:sym typeface="Times New Roman"/>
            </a:endParaRPr>
          </a:p>
          <a:p>
            <a:pPr marL="457200" lvl="0" indent="-304085" algn="l" rtl="0">
              <a:spcBef>
                <a:spcPts val="0"/>
              </a:spcBef>
              <a:spcAft>
                <a:spcPts val="0"/>
              </a:spcAft>
              <a:buClr>
                <a:srgbClr val="000000"/>
              </a:buClr>
              <a:buSzPct val="100000"/>
              <a:buFont typeface="Arial"/>
              <a:buChar char="●"/>
            </a:pPr>
            <a:r>
              <a:rPr lang="en" sz="1534" b="1">
                <a:solidFill>
                  <a:srgbClr val="000000"/>
                </a:solidFill>
                <a:latin typeface="Times New Roman"/>
                <a:ea typeface="Times New Roman"/>
                <a:cs typeface="Times New Roman"/>
                <a:sym typeface="Times New Roman"/>
              </a:rPr>
              <a:t>Maximum Takeoff Mass:</a:t>
            </a:r>
            <a:r>
              <a:rPr lang="en" sz="1534">
                <a:solidFill>
                  <a:srgbClr val="000000"/>
                </a:solidFill>
                <a:latin typeface="Times New Roman"/>
                <a:ea typeface="Times New Roman"/>
                <a:cs typeface="Times New Roman"/>
                <a:sym typeface="Times New Roman"/>
              </a:rPr>
              <a:t> ~80 kg</a:t>
            </a:r>
            <a:endParaRPr sz="1534">
              <a:solidFill>
                <a:srgbClr val="000000"/>
              </a:solidFill>
              <a:latin typeface="Times New Roman"/>
              <a:ea typeface="Times New Roman"/>
              <a:cs typeface="Times New Roman"/>
              <a:sym typeface="Times New Roman"/>
            </a:endParaRPr>
          </a:p>
          <a:p>
            <a:pPr marL="457200" lvl="0" indent="-304085" algn="l" rtl="0">
              <a:spcBef>
                <a:spcPts val="0"/>
              </a:spcBef>
              <a:spcAft>
                <a:spcPts val="0"/>
              </a:spcAft>
              <a:buClr>
                <a:srgbClr val="000000"/>
              </a:buClr>
              <a:buSzPct val="100000"/>
              <a:buFont typeface="Arial"/>
              <a:buChar char="●"/>
            </a:pPr>
            <a:r>
              <a:rPr lang="en" sz="1534" b="1">
                <a:solidFill>
                  <a:srgbClr val="000000"/>
                </a:solidFill>
                <a:latin typeface="Times New Roman"/>
                <a:ea typeface="Times New Roman"/>
                <a:cs typeface="Times New Roman"/>
                <a:sym typeface="Times New Roman"/>
              </a:rPr>
              <a:t>Payload:</a:t>
            </a:r>
            <a:r>
              <a:rPr lang="en" sz="1534">
                <a:solidFill>
                  <a:srgbClr val="000000"/>
                </a:solidFill>
                <a:latin typeface="Times New Roman"/>
                <a:ea typeface="Times New Roman"/>
                <a:cs typeface="Times New Roman"/>
                <a:sym typeface="Times New Roman"/>
              </a:rPr>
              <a:t> 20 L</a:t>
            </a:r>
            <a:endParaRPr sz="1534">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734" b="1">
                <a:solidFill>
                  <a:srgbClr val="000000"/>
                </a:solidFill>
                <a:latin typeface="Times New Roman"/>
                <a:ea typeface="Times New Roman"/>
                <a:cs typeface="Times New Roman"/>
                <a:sym typeface="Times New Roman"/>
              </a:rPr>
              <a:t>Typical Mission</a:t>
            </a:r>
            <a:endParaRPr sz="1734"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34" b="1">
                <a:solidFill>
                  <a:srgbClr val="000000"/>
                </a:solidFill>
                <a:latin typeface="Times New Roman"/>
                <a:ea typeface="Times New Roman"/>
                <a:cs typeface="Times New Roman"/>
                <a:sym typeface="Times New Roman"/>
              </a:rPr>
              <a:t>Takeoff → Transit → Spray Pass → Turn → Spray Pass → Return → Landing</a:t>
            </a:r>
            <a:endParaRPr sz="1534"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179">
                <a:solidFill>
                  <a:srgbClr val="000000"/>
                </a:solidFill>
                <a:latin typeface="Times New Roman"/>
                <a:ea typeface="Times New Roman"/>
                <a:cs typeface="Times New Roman"/>
                <a:sym typeface="Times New Roman"/>
              </a:rPr>
              <a:t>The </a:t>
            </a:r>
            <a:r>
              <a:rPr lang="en" sz="1745">
                <a:solidFill>
                  <a:srgbClr val="000000"/>
                </a:solidFill>
                <a:latin typeface="Times New Roman"/>
                <a:ea typeface="Times New Roman"/>
                <a:cs typeface="Times New Roman"/>
                <a:sym typeface="Times New Roman"/>
              </a:rPr>
              <a:t>performance target prioritizes </a:t>
            </a:r>
            <a:r>
              <a:rPr lang="en" sz="1745" b="1">
                <a:solidFill>
                  <a:srgbClr val="000000"/>
                </a:solidFill>
                <a:latin typeface="Times New Roman"/>
                <a:ea typeface="Times New Roman"/>
                <a:cs typeface="Times New Roman"/>
                <a:sym typeface="Times New Roman"/>
              </a:rPr>
              <a:t>stable coverage and controlled operation</a:t>
            </a:r>
            <a:r>
              <a:rPr lang="en" sz="1745">
                <a:solidFill>
                  <a:srgbClr val="000000"/>
                </a:solidFill>
                <a:latin typeface="Times New Roman"/>
                <a:ea typeface="Times New Roman"/>
                <a:cs typeface="Times New Roman"/>
                <a:sym typeface="Times New Roman"/>
              </a:rPr>
              <a:t> over high-speed flight.</a:t>
            </a:r>
            <a:endParaRPr sz="1745">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726"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6"/>
        <p:cNvGrpSpPr/>
        <p:nvPr/>
      </p:nvGrpSpPr>
      <p:grpSpPr>
        <a:xfrm>
          <a:off x="0" y="0"/>
          <a:ext cx="0" cy="0"/>
          <a:chOff x="0" y="0"/>
          <a:chExt cx="0" cy="0"/>
        </a:xfrm>
      </p:grpSpPr>
      <p:grpSp>
        <p:nvGrpSpPr>
          <p:cNvPr id="157" name="Google Shape;157;p29"/>
          <p:cNvGrpSpPr/>
          <p:nvPr/>
        </p:nvGrpSpPr>
        <p:grpSpPr>
          <a:xfrm>
            <a:off x="-1" y="381006"/>
            <a:ext cx="1037855" cy="1016294"/>
            <a:chOff x="-1" y="381006"/>
            <a:chExt cx="1037855" cy="1016294"/>
          </a:xfrm>
        </p:grpSpPr>
        <p:sp>
          <p:nvSpPr>
            <p:cNvPr id="158" name="Google Shape;158;p29"/>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9" name="Google Shape;159;p29"/>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60" name="Google Shape;160;p29"/>
          <p:cNvSpPr txBox="1">
            <a:spLocks noGrp="1"/>
          </p:cNvSpPr>
          <p:nvPr>
            <p:ph type="title"/>
          </p:nvPr>
        </p:nvSpPr>
        <p:spPr>
          <a:xfrm>
            <a:off x="1136950" y="393750"/>
            <a:ext cx="7199400" cy="6243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2100" b="1">
                <a:solidFill>
                  <a:srgbClr val="000000"/>
                </a:solidFill>
                <a:latin typeface="Times New Roman"/>
                <a:ea typeface="Times New Roman"/>
                <a:cs typeface="Times New Roman"/>
                <a:sym typeface="Times New Roman"/>
              </a:rPr>
              <a:t>Avionics System</a:t>
            </a:r>
            <a:endParaRPr sz="2800">
              <a:latin typeface="Times New Roman"/>
              <a:ea typeface="Times New Roman"/>
              <a:cs typeface="Times New Roman"/>
              <a:sym typeface="Times New Roman"/>
            </a:endParaRPr>
          </a:p>
        </p:txBody>
      </p:sp>
      <p:sp>
        <p:nvSpPr>
          <p:cNvPr id="161" name="Google Shape;161;p29"/>
          <p:cNvSpPr txBox="1">
            <a:spLocks noGrp="1"/>
          </p:cNvSpPr>
          <p:nvPr>
            <p:ph type="body" idx="1"/>
          </p:nvPr>
        </p:nvSpPr>
        <p:spPr>
          <a:xfrm>
            <a:off x="1037850" y="1017950"/>
            <a:ext cx="7298400" cy="40761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lnSpc>
                <a:spcPct val="95000"/>
              </a:lnSpc>
              <a:spcBef>
                <a:spcPts val="1400"/>
              </a:spcBef>
              <a:spcAft>
                <a:spcPts val="0"/>
              </a:spcAft>
              <a:buSzPts val="275"/>
              <a:buNone/>
            </a:pPr>
            <a:r>
              <a:rPr lang="en" sz="1494" b="1">
                <a:solidFill>
                  <a:srgbClr val="000000"/>
                </a:solidFill>
                <a:latin typeface="Times New Roman"/>
                <a:ea typeface="Times New Roman"/>
                <a:cs typeface="Times New Roman"/>
                <a:sym typeface="Times New Roman"/>
              </a:rPr>
              <a:t>The UAV's Control Center</a:t>
            </a:r>
            <a:endParaRPr sz="1494"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44">
                <a:solidFill>
                  <a:srgbClr val="000000"/>
                </a:solidFill>
                <a:latin typeface="Times New Roman"/>
                <a:ea typeface="Times New Roman"/>
                <a:cs typeface="Times New Roman"/>
                <a:sym typeface="Times New Roman"/>
              </a:rPr>
              <a:t>The avionics system connects the aircraft's sensors, navigation equipment, flight controller, propulsion system, and ground station. It processes information from the aircraft and turns mission commands into control actions.</a:t>
            </a:r>
            <a:endParaRPr sz="1244">
              <a:solidFill>
                <a:srgbClr val="000000"/>
              </a:solidFill>
              <a:latin typeface="Times New Roman"/>
              <a:ea typeface="Times New Roman"/>
              <a:cs typeface="Times New Roman"/>
              <a:sym typeface="Times New Roman"/>
            </a:endParaRPr>
          </a:p>
          <a:p>
            <a:pPr marL="0" lvl="0" indent="0" algn="l" rtl="0">
              <a:lnSpc>
                <a:spcPct val="95000"/>
              </a:lnSpc>
              <a:spcBef>
                <a:spcPts val="1400"/>
              </a:spcBef>
              <a:spcAft>
                <a:spcPts val="0"/>
              </a:spcAft>
              <a:buSzPts val="275"/>
              <a:buNone/>
            </a:pPr>
            <a:r>
              <a:rPr lang="en" sz="1294" b="1">
                <a:solidFill>
                  <a:srgbClr val="000000"/>
                </a:solidFill>
                <a:latin typeface="Times New Roman"/>
                <a:ea typeface="Times New Roman"/>
                <a:cs typeface="Times New Roman"/>
                <a:sym typeface="Times New Roman"/>
              </a:rPr>
              <a:t>Main Functions</a:t>
            </a:r>
            <a:endParaRPr sz="1294" b="1">
              <a:solidFill>
                <a:srgbClr val="000000"/>
              </a:solidFill>
              <a:latin typeface="Times New Roman"/>
              <a:ea typeface="Times New Roman"/>
              <a:cs typeface="Times New Roman"/>
              <a:sym typeface="Times New Roman"/>
            </a:endParaRPr>
          </a:p>
          <a:p>
            <a:pPr marL="457200" lvl="0" indent="-307593" algn="l" rtl="0">
              <a:lnSpc>
                <a:spcPct val="95000"/>
              </a:lnSpc>
              <a:spcBef>
                <a:spcPts val="120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Flight stabilization</a:t>
            </a:r>
            <a:endParaRPr sz="1244">
              <a:solidFill>
                <a:srgbClr val="000000"/>
              </a:solidFill>
              <a:latin typeface="Times New Roman"/>
              <a:ea typeface="Times New Roman"/>
              <a:cs typeface="Times New Roman"/>
              <a:sym typeface="Times New Roman"/>
            </a:endParaRPr>
          </a:p>
          <a:p>
            <a:pPr marL="457200" lvl="0" indent="-307593" algn="l" rtl="0">
              <a:lnSpc>
                <a:spcPct val="95000"/>
              </a:lnSpc>
              <a:spcBef>
                <a:spcPts val="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Sensor processing</a:t>
            </a:r>
            <a:endParaRPr sz="1244">
              <a:solidFill>
                <a:srgbClr val="000000"/>
              </a:solidFill>
              <a:latin typeface="Times New Roman"/>
              <a:ea typeface="Times New Roman"/>
              <a:cs typeface="Times New Roman"/>
              <a:sym typeface="Times New Roman"/>
            </a:endParaRPr>
          </a:p>
          <a:p>
            <a:pPr marL="457200" lvl="0" indent="-307593" algn="l" rtl="0">
              <a:lnSpc>
                <a:spcPct val="95000"/>
              </a:lnSpc>
              <a:spcBef>
                <a:spcPts val="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Navigation</a:t>
            </a:r>
            <a:endParaRPr sz="1244">
              <a:solidFill>
                <a:srgbClr val="000000"/>
              </a:solidFill>
              <a:latin typeface="Times New Roman"/>
              <a:ea typeface="Times New Roman"/>
              <a:cs typeface="Times New Roman"/>
              <a:sym typeface="Times New Roman"/>
            </a:endParaRPr>
          </a:p>
          <a:p>
            <a:pPr marL="457200" lvl="0" indent="-307593" algn="l" rtl="0">
              <a:lnSpc>
                <a:spcPct val="95000"/>
              </a:lnSpc>
              <a:spcBef>
                <a:spcPts val="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Motor control</a:t>
            </a:r>
            <a:endParaRPr sz="1244">
              <a:solidFill>
                <a:srgbClr val="000000"/>
              </a:solidFill>
              <a:latin typeface="Times New Roman"/>
              <a:ea typeface="Times New Roman"/>
              <a:cs typeface="Times New Roman"/>
              <a:sym typeface="Times New Roman"/>
            </a:endParaRPr>
          </a:p>
          <a:p>
            <a:pPr marL="457200" lvl="0" indent="-307593" algn="l" rtl="0">
              <a:lnSpc>
                <a:spcPct val="95000"/>
              </a:lnSpc>
              <a:spcBef>
                <a:spcPts val="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Autonomous mission execution</a:t>
            </a:r>
            <a:endParaRPr sz="1244">
              <a:solidFill>
                <a:srgbClr val="000000"/>
              </a:solidFill>
              <a:latin typeface="Times New Roman"/>
              <a:ea typeface="Times New Roman"/>
              <a:cs typeface="Times New Roman"/>
              <a:sym typeface="Times New Roman"/>
            </a:endParaRPr>
          </a:p>
          <a:p>
            <a:pPr marL="457200" lvl="0" indent="-307593" algn="l" rtl="0">
              <a:lnSpc>
                <a:spcPct val="95000"/>
              </a:lnSpc>
              <a:spcBef>
                <a:spcPts val="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Telemetry</a:t>
            </a:r>
            <a:endParaRPr sz="1244">
              <a:solidFill>
                <a:srgbClr val="000000"/>
              </a:solidFill>
              <a:latin typeface="Times New Roman"/>
              <a:ea typeface="Times New Roman"/>
              <a:cs typeface="Times New Roman"/>
              <a:sym typeface="Times New Roman"/>
            </a:endParaRPr>
          </a:p>
          <a:p>
            <a:pPr marL="457200" lvl="0" indent="-307593" algn="l" rtl="0">
              <a:lnSpc>
                <a:spcPct val="95000"/>
              </a:lnSpc>
              <a:spcBef>
                <a:spcPts val="0"/>
              </a:spcBef>
              <a:spcAft>
                <a:spcPts val="0"/>
              </a:spcAft>
              <a:buClr>
                <a:srgbClr val="000000"/>
              </a:buClr>
              <a:buSzPts val="1244"/>
              <a:buFont typeface="Times New Roman"/>
              <a:buChar char="●"/>
            </a:pPr>
            <a:r>
              <a:rPr lang="en" sz="1244">
                <a:solidFill>
                  <a:srgbClr val="000000"/>
                </a:solidFill>
                <a:latin typeface="Times New Roman"/>
                <a:ea typeface="Times New Roman"/>
                <a:cs typeface="Times New Roman"/>
                <a:sym typeface="Times New Roman"/>
              </a:rPr>
              <a:t>Failsafe management</a:t>
            </a:r>
            <a:endParaRPr sz="1244">
              <a:solidFill>
                <a:srgbClr val="000000"/>
              </a:solidFill>
              <a:latin typeface="Times New Roman"/>
              <a:ea typeface="Times New Roman"/>
              <a:cs typeface="Times New Roman"/>
              <a:sym typeface="Times New Roman"/>
            </a:endParaRPr>
          </a:p>
          <a:p>
            <a:pPr marL="0" lvl="0" indent="0" algn="l" rtl="0">
              <a:lnSpc>
                <a:spcPct val="95000"/>
              </a:lnSpc>
              <a:spcBef>
                <a:spcPts val="1400"/>
              </a:spcBef>
              <a:spcAft>
                <a:spcPts val="0"/>
              </a:spcAft>
              <a:buSzPts val="275"/>
              <a:buNone/>
            </a:pPr>
            <a:r>
              <a:rPr lang="en" sz="1294" b="1">
                <a:solidFill>
                  <a:srgbClr val="000000"/>
                </a:solidFill>
                <a:latin typeface="Times New Roman"/>
                <a:ea typeface="Times New Roman"/>
                <a:cs typeface="Times New Roman"/>
                <a:sym typeface="Times New Roman"/>
              </a:rPr>
              <a:t>Control Flow</a:t>
            </a:r>
            <a:endParaRPr sz="1294"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44" b="1">
                <a:solidFill>
                  <a:srgbClr val="000000"/>
                </a:solidFill>
                <a:latin typeface="Times New Roman"/>
                <a:ea typeface="Times New Roman"/>
                <a:cs typeface="Times New Roman"/>
                <a:sym typeface="Times New Roman"/>
              </a:rPr>
              <a:t>Sensors → Flight Controller → ESCs → Motors</a:t>
            </a:r>
            <a:endParaRPr sz="1244"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275"/>
              <a:buNone/>
            </a:pPr>
            <a:r>
              <a:rPr lang="en" sz="1244" b="1">
                <a:solidFill>
                  <a:srgbClr val="000000"/>
                </a:solidFill>
                <a:latin typeface="Times New Roman"/>
                <a:ea typeface="Times New Roman"/>
                <a:cs typeface="Times New Roman"/>
                <a:sym typeface="Times New Roman"/>
              </a:rPr>
              <a:t>Flight Controller → Telemetry → Ground Station</a:t>
            </a:r>
            <a:endParaRPr sz="1244"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1200"/>
              </a:spcAft>
              <a:buSzPts val="275"/>
              <a:buNone/>
            </a:pPr>
            <a:endParaRPr sz="325">
              <a:solidFill>
                <a:srgbClr val="1B212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5"/>
        <p:cNvGrpSpPr/>
        <p:nvPr/>
      </p:nvGrpSpPr>
      <p:grpSpPr>
        <a:xfrm>
          <a:off x="0" y="0"/>
          <a:ext cx="0" cy="0"/>
          <a:chOff x="0" y="0"/>
          <a:chExt cx="0" cy="0"/>
        </a:xfrm>
      </p:grpSpPr>
      <p:grpSp>
        <p:nvGrpSpPr>
          <p:cNvPr id="166" name="Google Shape;166;p30"/>
          <p:cNvGrpSpPr/>
          <p:nvPr/>
        </p:nvGrpSpPr>
        <p:grpSpPr>
          <a:xfrm>
            <a:off x="-1" y="381006"/>
            <a:ext cx="1037855" cy="1016294"/>
            <a:chOff x="-1" y="381006"/>
            <a:chExt cx="1037855" cy="1016294"/>
          </a:xfrm>
        </p:grpSpPr>
        <p:sp>
          <p:nvSpPr>
            <p:cNvPr id="167" name="Google Shape;167;p30"/>
            <p:cNvSpPr/>
            <p:nvPr/>
          </p:nvSpPr>
          <p:spPr>
            <a:xfrm rot="-5400000">
              <a:off x="-1" y="381006"/>
              <a:ext cx="808800" cy="808800"/>
            </a:xfrm>
            <a:prstGeom prst="diagStripe">
              <a:avLst>
                <a:gd name="adj" fmla="val 50000"/>
              </a:avLst>
            </a:pr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8" name="Google Shape;168;p30"/>
            <p:cNvSpPr/>
            <p:nvPr/>
          </p:nvSpPr>
          <p:spPr>
            <a:xfrm flipH="1">
              <a:off x="229054" y="588500"/>
              <a:ext cx="808800" cy="808800"/>
            </a:xfrm>
            <a:prstGeom prst="diagStripe">
              <a:avLst>
                <a:gd name="adj" fmla="val 50000"/>
              </a:avLst>
            </a:pr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69" name="Google Shape;169;p30"/>
          <p:cNvSpPr txBox="1">
            <a:spLocks noGrp="1"/>
          </p:cNvSpPr>
          <p:nvPr>
            <p:ph type="title"/>
          </p:nvPr>
        </p:nvSpPr>
        <p:spPr>
          <a:xfrm>
            <a:off x="1297500" y="393750"/>
            <a:ext cx="7038900" cy="5802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1908" b="1">
                <a:solidFill>
                  <a:srgbClr val="000000"/>
                </a:solidFill>
                <a:latin typeface="Times New Roman"/>
                <a:ea typeface="Times New Roman"/>
                <a:cs typeface="Times New Roman"/>
                <a:sym typeface="Times New Roman"/>
              </a:rPr>
              <a:t>Navigation &amp; Autonomous Flight</a:t>
            </a:r>
            <a:endParaRPr/>
          </a:p>
        </p:txBody>
      </p:sp>
      <p:sp>
        <p:nvSpPr>
          <p:cNvPr id="170" name="Google Shape;170;p30"/>
          <p:cNvSpPr txBox="1">
            <a:spLocks noGrp="1"/>
          </p:cNvSpPr>
          <p:nvPr>
            <p:ph type="body" idx="1"/>
          </p:nvPr>
        </p:nvSpPr>
        <p:spPr>
          <a:xfrm>
            <a:off x="1297500" y="1051000"/>
            <a:ext cx="7038900" cy="4406700"/>
          </a:xfrm>
          <a:prstGeom prst="rect">
            <a:avLst/>
          </a:prstGeom>
        </p:spPr>
        <p:txBody>
          <a:bodyPr spcFirstLastPara="1" wrap="square" lIns="91425" tIns="91425" rIns="91425" bIns="91425" anchor="t" anchorCtr="0">
            <a:normAutofit lnSpcReduction="10000"/>
          </a:bodyPr>
          <a:lstStyle/>
          <a:p>
            <a:pPr marL="0" lvl="0" indent="0" algn="l" rtl="0">
              <a:spcBef>
                <a:spcPts val="1400"/>
              </a:spcBef>
              <a:spcAft>
                <a:spcPts val="0"/>
              </a:spcAft>
              <a:buNone/>
            </a:pPr>
            <a:r>
              <a:rPr lang="en" sz="1626" b="1">
                <a:solidFill>
                  <a:srgbClr val="000000"/>
                </a:solidFill>
                <a:latin typeface="Times New Roman"/>
                <a:ea typeface="Times New Roman"/>
                <a:cs typeface="Times New Roman"/>
                <a:sym typeface="Times New Roman"/>
              </a:rPr>
              <a:t>RTK-GPS Based Navigation</a:t>
            </a:r>
            <a:endParaRPr sz="162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26">
                <a:solidFill>
                  <a:srgbClr val="000000"/>
                </a:solidFill>
                <a:latin typeface="Times New Roman"/>
                <a:ea typeface="Times New Roman"/>
                <a:cs typeface="Times New Roman"/>
                <a:sym typeface="Times New Roman"/>
              </a:rPr>
              <a:t>The UAV uses </a:t>
            </a:r>
            <a:r>
              <a:rPr lang="en" sz="1426" b="1">
                <a:solidFill>
                  <a:srgbClr val="000000"/>
                </a:solidFill>
                <a:latin typeface="Times New Roman"/>
                <a:ea typeface="Times New Roman"/>
                <a:cs typeface="Times New Roman"/>
                <a:sym typeface="Times New Roman"/>
              </a:rPr>
              <a:t>RTK-GPS</a:t>
            </a:r>
            <a:r>
              <a:rPr lang="en" sz="1426">
                <a:solidFill>
                  <a:srgbClr val="000000"/>
                </a:solidFill>
                <a:latin typeface="Times New Roman"/>
                <a:ea typeface="Times New Roman"/>
                <a:cs typeface="Times New Roman"/>
                <a:sym typeface="Times New Roman"/>
              </a:rPr>
              <a:t> to improve positioning accuracy during autonomous waypoint missions. Navigation data is combined with onboard motion sensing so the flight controller can track the planned route and maintain stable aircraft motion.</a:t>
            </a:r>
            <a:endParaRPr sz="1426">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626" b="1">
                <a:solidFill>
                  <a:srgbClr val="000000"/>
                </a:solidFill>
                <a:latin typeface="Times New Roman"/>
                <a:ea typeface="Times New Roman"/>
                <a:cs typeface="Times New Roman"/>
                <a:sym typeface="Times New Roman"/>
              </a:rPr>
              <a:t>Navigation Specifications</a:t>
            </a:r>
            <a:endParaRPr sz="1626" b="1">
              <a:solidFill>
                <a:srgbClr val="000000"/>
              </a:solidFill>
              <a:latin typeface="Times New Roman"/>
              <a:ea typeface="Times New Roman"/>
              <a:cs typeface="Times New Roman"/>
              <a:sym typeface="Times New Roman"/>
            </a:endParaRPr>
          </a:p>
          <a:p>
            <a:pPr marL="457200" lvl="0" indent="-305555" algn="l" rtl="0">
              <a:spcBef>
                <a:spcPts val="1200"/>
              </a:spcBef>
              <a:spcAft>
                <a:spcPts val="0"/>
              </a:spcAft>
              <a:buClr>
                <a:srgbClr val="000000"/>
              </a:buClr>
              <a:buSzPct val="100000"/>
              <a:buFont typeface="Arial"/>
              <a:buChar char="●"/>
            </a:pPr>
            <a:r>
              <a:rPr lang="en" sz="1426" b="1">
                <a:solidFill>
                  <a:srgbClr val="000000"/>
                </a:solidFill>
                <a:latin typeface="Times New Roman"/>
                <a:ea typeface="Times New Roman"/>
                <a:cs typeface="Times New Roman"/>
                <a:sym typeface="Times New Roman"/>
              </a:rPr>
              <a:t>Navigation:</a:t>
            </a:r>
            <a:r>
              <a:rPr lang="en" sz="1426">
                <a:solidFill>
                  <a:srgbClr val="000000"/>
                </a:solidFill>
                <a:latin typeface="Times New Roman"/>
                <a:ea typeface="Times New Roman"/>
                <a:cs typeface="Times New Roman"/>
                <a:sym typeface="Times New Roman"/>
              </a:rPr>
              <a:t> RTK-GPS</a:t>
            </a:r>
            <a:endParaRPr sz="1426">
              <a:solidFill>
                <a:srgbClr val="000000"/>
              </a:solidFill>
              <a:latin typeface="Times New Roman"/>
              <a:ea typeface="Times New Roman"/>
              <a:cs typeface="Times New Roman"/>
              <a:sym typeface="Times New Roman"/>
            </a:endParaRPr>
          </a:p>
          <a:p>
            <a:pPr marL="457200" lvl="0" indent="-305555" algn="l" rtl="0">
              <a:spcBef>
                <a:spcPts val="0"/>
              </a:spcBef>
              <a:spcAft>
                <a:spcPts val="0"/>
              </a:spcAft>
              <a:buClr>
                <a:srgbClr val="000000"/>
              </a:buClr>
              <a:buSzPct val="100000"/>
              <a:buFont typeface="Arial"/>
              <a:buChar char="●"/>
            </a:pPr>
            <a:r>
              <a:rPr lang="en" sz="1426" b="1">
                <a:solidFill>
                  <a:srgbClr val="000000"/>
                </a:solidFill>
                <a:latin typeface="Times New Roman"/>
                <a:ea typeface="Times New Roman"/>
                <a:cs typeface="Times New Roman"/>
                <a:sym typeface="Times New Roman"/>
              </a:rPr>
              <a:t>Flight Mode:</a:t>
            </a:r>
            <a:r>
              <a:rPr lang="en" sz="1426">
                <a:solidFill>
                  <a:srgbClr val="000000"/>
                </a:solidFill>
                <a:latin typeface="Times New Roman"/>
                <a:ea typeface="Times New Roman"/>
                <a:cs typeface="Times New Roman"/>
                <a:sym typeface="Times New Roman"/>
              </a:rPr>
              <a:t> Autonomous waypoint navigation</a:t>
            </a:r>
            <a:endParaRPr sz="1426">
              <a:solidFill>
                <a:srgbClr val="000000"/>
              </a:solidFill>
              <a:latin typeface="Times New Roman"/>
              <a:ea typeface="Times New Roman"/>
              <a:cs typeface="Times New Roman"/>
              <a:sym typeface="Times New Roman"/>
            </a:endParaRPr>
          </a:p>
          <a:p>
            <a:pPr marL="457200" lvl="0" indent="-305555" algn="l" rtl="0">
              <a:spcBef>
                <a:spcPts val="0"/>
              </a:spcBef>
              <a:spcAft>
                <a:spcPts val="0"/>
              </a:spcAft>
              <a:buClr>
                <a:srgbClr val="000000"/>
              </a:buClr>
              <a:buSzPct val="100000"/>
              <a:buFont typeface="Arial"/>
              <a:buChar char="●"/>
            </a:pPr>
            <a:r>
              <a:rPr lang="en" sz="1426" b="1">
                <a:solidFill>
                  <a:srgbClr val="000000"/>
                </a:solidFill>
                <a:latin typeface="Times New Roman"/>
                <a:ea typeface="Times New Roman"/>
                <a:cs typeface="Times New Roman"/>
                <a:sym typeface="Times New Roman"/>
              </a:rPr>
              <a:t>Mission Planning:</a:t>
            </a:r>
            <a:r>
              <a:rPr lang="en" sz="1426">
                <a:solidFill>
                  <a:srgbClr val="000000"/>
                </a:solidFill>
                <a:latin typeface="Times New Roman"/>
                <a:ea typeface="Times New Roman"/>
                <a:cs typeface="Times New Roman"/>
                <a:sym typeface="Times New Roman"/>
              </a:rPr>
              <a:t> Predefined field routes</a:t>
            </a:r>
            <a:endParaRPr sz="1426">
              <a:solidFill>
                <a:srgbClr val="000000"/>
              </a:solidFill>
              <a:latin typeface="Times New Roman"/>
              <a:ea typeface="Times New Roman"/>
              <a:cs typeface="Times New Roman"/>
              <a:sym typeface="Times New Roman"/>
            </a:endParaRPr>
          </a:p>
          <a:p>
            <a:pPr marL="457200" lvl="0" indent="-305555" algn="l" rtl="0">
              <a:spcBef>
                <a:spcPts val="0"/>
              </a:spcBef>
              <a:spcAft>
                <a:spcPts val="0"/>
              </a:spcAft>
              <a:buClr>
                <a:srgbClr val="000000"/>
              </a:buClr>
              <a:buSzPct val="100000"/>
              <a:buFont typeface="Arial"/>
              <a:buChar char="●"/>
            </a:pPr>
            <a:r>
              <a:rPr lang="en" sz="1426" b="1">
                <a:solidFill>
                  <a:srgbClr val="000000"/>
                </a:solidFill>
                <a:latin typeface="Times New Roman"/>
                <a:ea typeface="Times New Roman"/>
                <a:cs typeface="Times New Roman"/>
                <a:sym typeface="Times New Roman"/>
              </a:rPr>
              <a:t>Control:</a:t>
            </a:r>
            <a:r>
              <a:rPr lang="en" sz="1426">
                <a:solidFill>
                  <a:srgbClr val="000000"/>
                </a:solidFill>
                <a:latin typeface="Times New Roman"/>
                <a:ea typeface="Times New Roman"/>
                <a:cs typeface="Times New Roman"/>
                <a:sym typeface="Times New Roman"/>
              </a:rPr>
              <a:t> Closed-loop position feedback</a:t>
            </a:r>
            <a:endParaRPr sz="1426">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626" b="1">
                <a:solidFill>
                  <a:srgbClr val="000000"/>
                </a:solidFill>
                <a:latin typeface="Times New Roman"/>
                <a:ea typeface="Times New Roman"/>
                <a:cs typeface="Times New Roman"/>
                <a:sym typeface="Times New Roman"/>
              </a:rPr>
              <a:t>Autonomous Mission</a:t>
            </a:r>
            <a:endParaRPr sz="162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26" b="1">
                <a:solidFill>
                  <a:srgbClr val="000000"/>
                </a:solidFill>
                <a:latin typeface="Times New Roman"/>
                <a:ea typeface="Times New Roman"/>
                <a:cs typeface="Times New Roman"/>
                <a:sym typeface="Times New Roman"/>
              </a:rPr>
              <a:t>Mission Planning → Waypoints → Position Estimation → Flight Control → Feedback</a:t>
            </a:r>
            <a:endParaRPr sz="142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26">
                <a:solidFill>
                  <a:srgbClr val="000000"/>
                </a:solidFill>
                <a:latin typeface="Times New Roman"/>
                <a:ea typeface="Times New Roman"/>
                <a:cs typeface="Times New Roman"/>
                <a:sym typeface="Times New Roman"/>
              </a:rPr>
              <a:t>The operator supervises the mission while the aircraft handles continuous stabilization and waypoint tracking.</a:t>
            </a:r>
            <a:endParaRPr sz="1426">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508"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1297500" y="393750"/>
            <a:ext cx="7038900" cy="5250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2000" b="1">
                <a:solidFill>
                  <a:srgbClr val="000000"/>
                </a:solidFill>
                <a:latin typeface="Times New Roman"/>
                <a:ea typeface="Times New Roman"/>
                <a:cs typeface="Times New Roman"/>
                <a:sym typeface="Times New Roman"/>
              </a:rPr>
              <a:t>Sensors &amp; State Estimation</a:t>
            </a:r>
            <a:endParaRPr sz="2700">
              <a:latin typeface="Times New Roman"/>
              <a:ea typeface="Times New Roman"/>
              <a:cs typeface="Times New Roman"/>
              <a:sym typeface="Times New Roman"/>
            </a:endParaRPr>
          </a:p>
        </p:txBody>
      </p:sp>
      <p:grpSp>
        <p:nvGrpSpPr>
          <p:cNvPr id="176" name="Google Shape;176;p31"/>
          <p:cNvGrpSpPr/>
          <p:nvPr/>
        </p:nvGrpSpPr>
        <p:grpSpPr>
          <a:xfrm>
            <a:off x="-7" y="381004"/>
            <a:ext cx="1037864" cy="1016296"/>
            <a:chOff x="-7" y="381004"/>
            <a:chExt cx="1037864" cy="1016296"/>
          </a:xfrm>
        </p:grpSpPr>
        <p:sp>
          <p:nvSpPr>
            <p:cNvPr id="177" name="Google Shape;177;p31"/>
            <p:cNvSpPr/>
            <p:nvPr/>
          </p:nvSpPr>
          <p:spPr>
            <a:xfrm rot="-5400000">
              <a:off x="-7" y="381004"/>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78" name="Google Shape;178;p31"/>
            <p:cNvSpPr/>
            <p:nvPr/>
          </p:nvSpPr>
          <p:spPr>
            <a:xfrm flipH="1">
              <a:off x="229057"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79" name="Google Shape;179;p31"/>
          <p:cNvSpPr txBox="1">
            <a:spLocks noGrp="1"/>
          </p:cNvSpPr>
          <p:nvPr>
            <p:ph type="body" idx="1"/>
          </p:nvPr>
        </p:nvSpPr>
        <p:spPr>
          <a:xfrm>
            <a:off x="1297500" y="962875"/>
            <a:ext cx="7038900" cy="3999300"/>
          </a:xfrm>
          <a:prstGeom prst="rect">
            <a:avLst/>
          </a:prstGeom>
        </p:spPr>
        <p:txBody>
          <a:bodyPr spcFirstLastPara="1" wrap="square" lIns="91425" tIns="91425" rIns="91425" bIns="91425" anchor="t" anchorCtr="0">
            <a:normAutofit fontScale="85000" lnSpcReduction="10000"/>
          </a:bodyPr>
          <a:lstStyle/>
          <a:p>
            <a:pPr marL="0" lvl="0" indent="0" algn="l" rtl="0">
              <a:spcBef>
                <a:spcPts val="1400"/>
              </a:spcBef>
              <a:spcAft>
                <a:spcPts val="0"/>
              </a:spcAft>
              <a:buNone/>
            </a:pPr>
            <a:r>
              <a:rPr lang="en" sz="1785" b="1">
                <a:solidFill>
                  <a:srgbClr val="000000"/>
                </a:solidFill>
                <a:latin typeface="Times New Roman"/>
                <a:ea typeface="Times New Roman"/>
                <a:cs typeface="Times New Roman"/>
                <a:sym typeface="Times New Roman"/>
              </a:rPr>
              <a:t>Understanding the Aircraft's State</a:t>
            </a:r>
            <a:endParaRPr sz="17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a:solidFill>
                  <a:srgbClr val="000000"/>
                </a:solidFill>
                <a:latin typeface="Times New Roman"/>
                <a:ea typeface="Times New Roman"/>
                <a:cs typeface="Times New Roman"/>
                <a:sym typeface="Times New Roman"/>
              </a:rPr>
              <a:t>Autonomous flight requires continuous information about position, orientation, altitude, and motion. Since no single sensor provides all of this information, the flight controller combines several measurements to estimate the aircraft's current state.</a:t>
            </a:r>
            <a:endParaRPr sz="1585">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785" b="1">
                <a:solidFill>
                  <a:srgbClr val="000000"/>
                </a:solidFill>
                <a:latin typeface="Times New Roman"/>
                <a:ea typeface="Times New Roman"/>
                <a:cs typeface="Times New Roman"/>
                <a:sym typeface="Times New Roman"/>
              </a:rPr>
              <a:t>Sensor Roles</a:t>
            </a:r>
            <a:endParaRPr sz="17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b="1">
                <a:solidFill>
                  <a:srgbClr val="000000"/>
                </a:solidFill>
                <a:latin typeface="Times New Roman"/>
                <a:ea typeface="Times New Roman"/>
                <a:cs typeface="Times New Roman"/>
                <a:sym typeface="Times New Roman"/>
              </a:rPr>
              <a:t>RTK-GPS → Position</a:t>
            </a:r>
            <a:endParaRPr sz="15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b="1">
                <a:solidFill>
                  <a:srgbClr val="000000"/>
                </a:solidFill>
                <a:latin typeface="Times New Roman"/>
                <a:ea typeface="Times New Roman"/>
                <a:cs typeface="Times New Roman"/>
                <a:sym typeface="Times New Roman"/>
              </a:rPr>
              <a:t>IMU → Motion + Attitude</a:t>
            </a:r>
            <a:endParaRPr sz="15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b="1">
                <a:solidFill>
                  <a:srgbClr val="000000"/>
                </a:solidFill>
                <a:latin typeface="Times New Roman"/>
                <a:ea typeface="Times New Roman"/>
                <a:cs typeface="Times New Roman"/>
                <a:sym typeface="Times New Roman"/>
              </a:rPr>
              <a:t>Barometer → Altitude</a:t>
            </a:r>
            <a:endParaRPr sz="15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b="1">
                <a:solidFill>
                  <a:srgbClr val="000000"/>
                </a:solidFill>
                <a:latin typeface="Times New Roman"/>
                <a:ea typeface="Times New Roman"/>
                <a:cs typeface="Times New Roman"/>
                <a:sym typeface="Times New Roman"/>
              </a:rPr>
              <a:t>Compass → Heading</a:t>
            </a:r>
            <a:endParaRPr sz="15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b="1">
                <a:solidFill>
                  <a:srgbClr val="000000"/>
                </a:solidFill>
                <a:latin typeface="Times New Roman"/>
                <a:ea typeface="Times New Roman"/>
                <a:cs typeface="Times New Roman"/>
                <a:sym typeface="Times New Roman"/>
              </a:rPr>
              <a:t>Telemetry → System Status</a:t>
            </a:r>
            <a:endParaRPr sz="1585"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585">
                <a:solidFill>
                  <a:srgbClr val="000000"/>
                </a:solidFill>
                <a:latin typeface="Times New Roman"/>
                <a:ea typeface="Times New Roman"/>
                <a:cs typeface="Times New Roman"/>
                <a:sym typeface="Times New Roman"/>
              </a:rPr>
              <a:t>This information forms the basis for stable flight and autonomous decision-making.</a:t>
            </a:r>
            <a:endParaRPr sz="1585">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3"/>
        <p:cNvGrpSpPr/>
        <p:nvPr/>
      </p:nvGrpSpPr>
      <p:grpSpPr>
        <a:xfrm>
          <a:off x="0" y="0"/>
          <a:ext cx="0" cy="0"/>
          <a:chOff x="0" y="0"/>
          <a:chExt cx="0" cy="0"/>
        </a:xfrm>
      </p:grpSpPr>
      <p:sp>
        <p:nvSpPr>
          <p:cNvPr id="184" name="Google Shape;184;p32"/>
          <p:cNvSpPr txBox="1">
            <a:spLocks noGrp="1"/>
          </p:cNvSpPr>
          <p:nvPr>
            <p:ph type="title"/>
          </p:nvPr>
        </p:nvSpPr>
        <p:spPr>
          <a:xfrm>
            <a:off x="1297500" y="268800"/>
            <a:ext cx="7038900" cy="58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latin typeface="Times New Roman"/>
                <a:ea typeface="Times New Roman"/>
                <a:cs typeface="Times New Roman"/>
                <a:sym typeface="Times New Roman"/>
              </a:rPr>
              <a:t>Agricultural Spraying System </a:t>
            </a:r>
            <a:endParaRPr b="1">
              <a:solidFill>
                <a:schemeClr val="dk1"/>
              </a:solidFill>
              <a:latin typeface="Times New Roman"/>
              <a:ea typeface="Times New Roman"/>
              <a:cs typeface="Times New Roman"/>
              <a:sym typeface="Times New Roman"/>
            </a:endParaRPr>
          </a:p>
        </p:txBody>
      </p:sp>
      <p:sp>
        <p:nvSpPr>
          <p:cNvPr id="185" name="Google Shape;185;p32"/>
          <p:cNvSpPr txBox="1">
            <a:spLocks noGrp="1"/>
          </p:cNvSpPr>
          <p:nvPr>
            <p:ph type="body" idx="1"/>
          </p:nvPr>
        </p:nvSpPr>
        <p:spPr>
          <a:xfrm>
            <a:off x="1297500" y="852900"/>
            <a:ext cx="7038900" cy="42906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500" b="1">
                <a:solidFill>
                  <a:srgbClr val="000000"/>
                </a:solidFill>
                <a:latin typeface="Times New Roman"/>
                <a:ea typeface="Times New Roman"/>
                <a:cs typeface="Times New Roman"/>
                <a:sym typeface="Times New Roman"/>
              </a:rPr>
              <a:t>20 L Liquid Delivery System</a:t>
            </a:r>
            <a:endParaRPr sz="15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a:solidFill>
                  <a:srgbClr val="000000"/>
                </a:solidFill>
                <a:latin typeface="Times New Roman"/>
                <a:ea typeface="Times New Roman"/>
                <a:cs typeface="Times New Roman"/>
                <a:sym typeface="Times New Roman"/>
              </a:rPr>
              <a:t>The spraying subsystem stores and delivers the agricultural liquid through a controlled pump, flow system, and nozzle arrangement. The tank is integrated near the aircraft's central region to limit changes in balance as the liquid is consumed.</a:t>
            </a:r>
            <a:endParaRPr>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00" b="1">
                <a:solidFill>
                  <a:srgbClr val="000000"/>
                </a:solidFill>
                <a:latin typeface="Times New Roman"/>
                <a:ea typeface="Times New Roman"/>
                <a:cs typeface="Times New Roman"/>
                <a:sym typeface="Times New Roman"/>
              </a:rPr>
              <a:t>Specifications</a:t>
            </a:r>
            <a:endParaRPr sz="1500" b="1">
              <a:solidFill>
                <a:srgbClr val="000000"/>
              </a:solidFill>
              <a:latin typeface="Times New Roman"/>
              <a:ea typeface="Times New Roman"/>
              <a:cs typeface="Times New Roman"/>
              <a:sym typeface="Times New Roman"/>
            </a:endParaRPr>
          </a:p>
          <a:p>
            <a:pPr marL="457200" lvl="0" indent="-311150" algn="l" rtl="0">
              <a:spcBef>
                <a:spcPts val="1200"/>
              </a:spcBef>
              <a:spcAft>
                <a:spcPts val="0"/>
              </a:spcAft>
              <a:buClr>
                <a:srgbClr val="000000"/>
              </a:buClr>
              <a:buSzPts val="1300"/>
              <a:buFont typeface="Arial"/>
              <a:buChar char="●"/>
            </a:pPr>
            <a:r>
              <a:rPr lang="en" b="1">
                <a:solidFill>
                  <a:srgbClr val="000000"/>
                </a:solidFill>
                <a:latin typeface="Times New Roman"/>
                <a:ea typeface="Times New Roman"/>
                <a:cs typeface="Times New Roman"/>
                <a:sym typeface="Times New Roman"/>
              </a:rPr>
              <a:t>Tank Capacity:</a:t>
            </a:r>
            <a:r>
              <a:rPr lang="en">
                <a:solidFill>
                  <a:srgbClr val="000000"/>
                </a:solidFill>
                <a:latin typeface="Times New Roman"/>
                <a:ea typeface="Times New Roman"/>
                <a:cs typeface="Times New Roman"/>
                <a:sym typeface="Times New Roman"/>
              </a:rPr>
              <a:t> 20 L</a:t>
            </a:r>
            <a:endParaRPr>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Arial"/>
              <a:buChar char="●"/>
            </a:pPr>
            <a:r>
              <a:rPr lang="en" b="1">
                <a:solidFill>
                  <a:srgbClr val="000000"/>
                </a:solidFill>
                <a:latin typeface="Times New Roman"/>
                <a:ea typeface="Times New Roman"/>
                <a:cs typeface="Times New Roman"/>
                <a:sym typeface="Times New Roman"/>
              </a:rPr>
              <a:t>Spray Width:</a:t>
            </a:r>
            <a:r>
              <a:rPr lang="en">
                <a:solidFill>
                  <a:srgbClr val="000000"/>
                </a:solidFill>
                <a:latin typeface="Times New Roman"/>
                <a:ea typeface="Times New Roman"/>
                <a:cs typeface="Times New Roman"/>
                <a:sym typeface="Times New Roman"/>
              </a:rPr>
              <a:t> ~5.5–6 m</a:t>
            </a:r>
            <a:endParaRPr>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Arial"/>
              <a:buChar char="●"/>
            </a:pPr>
            <a:r>
              <a:rPr lang="en" b="1">
                <a:solidFill>
                  <a:srgbClr val="000000"/>
                </a:solidFill>
                <a:latin typeface="Times New Roman"/>
                <a:ea typeface="Times New Roman"/>
                <a:cs typeface="Times New Roman"/>
                <a:sym typeface="Times New Roman"/>
              </a:rPr>
              <a:t>System:</a:t>
            </a:r>
            <a:r>
              <a:rPr lang="en">
                <a:solidFill>
                  <a:srgbClr val="000000"/>
                </a:solidFill>
                <a:latin typeface="Times New Roman"/>
                <a:ea typeface="Times New Roman"/>
                <a:cs typeface="Times New Roman"/>
                <a:sym typeface="Times New Roman"/>
              </a:rPr>
              <a:t> Tank + Pump + Filter + Boom + Nozzles</a:t>
            </a:r>
            <a:endParaRPr>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Arial"/>
              <a:buChar char="●"/>
            </a:pPr>
            <a:r>
              <a:rPr lang="en" b="1">
                <a:solidFill>
                  <a:srgbClr val="000000"/>
                </a:solidFill>
                <a:latin typeface="Times New Roman"/>
                <a:ea typeface="Times New Roman"/>
                <a:cs typeface="Times New Roman"/>
                <a:sym typeface="Times New Roman"/>
              </a:rPr>
              <a:t>Control:</a:t>
            </a:r>
            <a:r>
              <a:rPr lang="en">
                <a:solidFill>
                  <a:srgbClr val="000000"/>
                </a:solidFill>
                <a:latin typeface="Times New Roman"/>
                <a:ea typeface="Times New Roman"/>
                <a:cs typeface="Times New Roman"/>
                <a:sym typeface="Times New Roman"/>
              </a:rPr>
              <a:t> Regulated liquid delivery</a:t>
            </a:r>
            <a:endParaRPr>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00" b="1">
                <a:solidFill>
                  <a:srgbClr val="000000"/>
                </a:solidFill>
                <a:latin typeface="Times New Roman"/>
                <a:ea typeface="Times New Roman"/>
                <a:cs typeface="Times New Roman"/>
                <a:sym typeface="Times New Roman"/>
              </a:rPr>
              <a:t>Spray Flow</a:t>
            </a:r>
            <a:endParaRPr sz="15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b="1">
                <a:solidFill>
                  <a:srgbClr val="000000"/>
                </a:solidFill>
                <a:latin typeface="Times New Roman"/>
                <a:ea typeface="Times New Roman"/>
                <a:cs typeface="Times New Roman"/>
                <a:sym typeface="Times New Roman"/>
              </a:rPr>
              <a:t>20 L Tank → Filter → Pump → Flow Control → Boom → Nozzles → Crop</a:t>
            </a:r>
            <a:endParaRPr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a:solidFill>
                  <a:srgbClr val="000000"/>
                </a:solidFill>
                <a:latin typeface="Times New Roman"/>
                <a:ea typeface="Times New Roman"/>
                <a:cs typeface="Times New Roman"/>
                <a:sym typeface="Times New Roman"/>
              </a:rPr>
              <a:t>The spraying system is integrated with the UAV's flight mission rather than operating independently.</a:t>
            </a:r>
            <a:endParaRPr>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0"/>
              </a:spcAft>
              <a:buSzPts val="1018"/>
              <a:buNone/>
            </a:pPr>
            <a:endParaRPr sz="1403" b="1">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1200"/>
              </a:spcAft>
              <a:buSzPts val="1018"/>
              <a:buNone/>
            </a:pPr>
            <a:endParaRPr sz="1403">
              <a:latin typeface="Times New Roman"/>
              <a:ea typeface="Times New Roman"/>
              <a:cs typeface="Times New Roman"/>
              <a:sym typeface="Times New Roman"/>
            </a:endParaRPr>
          </a:p>
        </p:txBody>
      </p:sp>
      <p:grpSp>
        <p:nvGrpSpPr>
          <p:cNvPr id="186" name="Google Shape;186;p32"/>
          <p:cNvGrpSpPr/>
          <p:nvPr/>
        </p:nvGrpSpPr>
        <p:grpSpPr>
          <a:xfrm>
            <a:off x="-12" y="380999"/>
            <a:ext cx="1037872" cy="1016301"/>
            <a:chOff x="-12" y="380999"/>
            <a:chExt cx="1037872" cy="1016301"/>
          </a:xfrm>
        </p:grpSpPr>
        <p:sp>
          <p:nvSpPr>
            <p:cNvPr id="187" name="Google Shape;187;p32"/>
            <p:cNvSpPr/>
            <p:nvPr/>
          </p:nvSpPr>
          <p:spPr>
            <a:xfrm rot="-5400000">
              <a:off x="-12" y="380999"/>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8" name="Google Shape;188;p32"/>
            <p:cNvSpPr/>
            <p:nvPr/>
          </p:nvSpPr>
          <p:spPr>
            <a:xfrm flipH="1">
              <a:off x="229061"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1297500" y="213725"/>
            <a:ext cx="7038900" cy="6609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2000" b="1">
                <a:solidFill>
                  <a:srgbClr val="000000"/>
                </a:solidFill>
                <a:latin typeface="Times New Roman"/>
                <a:ea typeface="Times New Roman"/>
                <a:cs typeface="Times New Roman"/>
                <a:sym typeface="Times New Roman"/>
              </a:rPr>
              <a:t>Precision Spraying</a:t>
            </a:r>
            <a:endParaRPr/>
          </a:p>
        </p:txBody>
      </p:sp>
      <p:grpSp>
        <p:nvGrpSpPr>
          <p:cNvPr id="194" name="Google Shape;194;p33"/>
          <p:cNvGrpSpPr/>
          <p:nvPr/>
        </p:nvGrpSpPr>
        <p:grpSpPr>
          <a:xfrm>
            <a:off x="-10" y="380985"/>
            <a:ext cx="1037884" cy="1016316"/>
            <a:chOff x="-10" y="380985"/>
            <a:chExt cx="1037884" cy="1016316"/>
          </a:xfrm>
        </p:grpSpPr>
        <p:sp>
          <p:nvSpPr>
            <p:cNvPr id="195" name="Google Shape;195;p33"/>
            <p:cNvSpPr/>
            <p:nvPr/>
          </p:nvSpPr>
          <p:spPr>
            <a:xfrm rot="-5400000">
              <a:off x="-10" y="380985"/>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6" name="Google Shape;196;p33"/>
            <p:cNvSpPr/>
            <p:nvPr/>
          </p:nvSpPr>
          <p:spPr>
            <a:xfrm flipH="1">
              <a:off x="229074"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97" name="Google Shape;197;p33"/>
          <p:cNvSpPr txBox="1">
            <a:spLocks noGrp="1"/>
          </p:cNvSpPr>
          <p:nvPr>
            <p:ph type="body" idx="1"/>
          </p:nvPr>
        </p:nvSpPr>
        <p:spPr>
          <a:xfrm>
            <a:off x="1297500" y="1028975"/>
            <a:ext cx="7038900" cy="3966000"/>
          </a:xfrm>
          <a:prstGeom prst="rect">
            <a:avLst/>
          </a:prstGeom>
          <a:solidFill>
            <a:srgbClr val="000000">
              <a:alpha val="0"/>
            </a:srgbClr>
          </a:solidFill>
          <a:ln>
            <a:noFill/>
          </a:ln>
        </p:spPr>
        <p:txBody>
          <a:bodyPr spcFirstLastPara="1" wrap="square" lIns="91400" tIns="91400" rIns="91400" bIns="91400" anchor="t" anchorCtr="0">
            <a:normAutofit/>
          </a:bodyPr>
          <a:lstStyle/>
          <a:p>
            <a:pPr marL="0" lvl="0" indent="0" algn="l" rtl="0">
              <a:spcBef>
                <a:spcPts val="1400"/>
              </a:spcBef>
              <a:spcAft>
                <a:spcPts val="0"/>
              </a:spcAft>
              <a:buNone/>
            </a:pPr>
            <a:r>
              <a:rPr lang="en" sz="1600" b="1">
                <a:solidFill>
                  <a:srgbClr val="000000"/>
                </a:solidFill>
                <a:latin typeface="Times New Roman"/>
                <a:ea typeface="Times New Roman"/>
                <a:cs typeface="Times New Roman"/>
                <a:sym typeface="Times New Roman"/>
              </a:rPr>
              <a:t>Connecting Flight With Spray Quality</a:t>
            </a:r>
            <a:endParaRPr sz="16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00">
                <a:solidFill>
                  <a:srgbClr val="000000"/>
                </a:solidFill>
                <a:latin typeface="Times New Roman"/>
                <a:ea typeface="Times New Roman"/>
                <a:cs typeface="Times New Roman"/>
                <a:sym typeface="Times New Roman"/>
              </a:rPr>
              <a:t>Spray consistency depends on the relationship between aircraft motion and liquid delivery. Speed, altitude, flow rate, nozzle arrangement, and spray width must therefore be considered together.</a:t>
            </a:r>
            <a:endParaRPr sz="140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600" b="1">
                <a:solidFill>
                  <a:srgbClr val="000000"/>
                </a:solidFill>
                <a:latin typeface="Times New Roman"/>
                <a:ea typeface="Times New Roman"/>
                <a:cs typeface="Times New Roman"/>
                <a:sym typeface="Times New Roman"/>
              </a:rPr>
              <a:t>Control Relationship</a:t>
            </a:r>
            <a:endParaRPr sz="16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00" b="1">
                <a:solidFill>
                  <a:srgbClr val="000000"/>
                </a:solidFill>
                <a:latin typeface="Times New Roman"/>
                <a:ea typeface="Times New Roman"/>
                <a:cs typeface="Times New Roman"/>
                <a:sym typeface="Times New Roman"/>
              </a:rPr>
              <a:t>Flight Speed + Altitude + Flow Rate → Spray Coverage</a:t>
            </a:r>
            <a:endParaRPr sz="14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00">
                <a:solidFill>
                  <a:srgbClr val="000000"/>
                </a:solidFill>
                <a:latin typeface="Times New Roman"/>
                <a:ea typeface="Times New Roman"/>
                <a:cs typeface="Times New Roman"/>
                <a:sym typeface="Times New Roman"/>
              </a:rPr>
              <a:t>The design targets a spray width of approximately </a:t>
            </a:r>
            <a:r>
              <a:rPr lang="en" sz="1400" b="1">
                <a:solidFill>
                  <a:srgbClr val="000000"/>
                </a:solidFill>
                <a:latin typeface="Times New Roman"/>
                <a:ea typeface="Times New Roman"/>
                <a:cs typeface="Times New Roman"/>
                <a:sym typeface="Times New Roman"/>
              </a:rPr>
              <a:t>5.5–6 m</a:t>
            </a:r>
            <a:r>
              <a:rPr lang="en" sz="1400">
                <a:solidFill>
                  <a:srgbClr val="000000"/>
                </a:solidFill>
                <a:latin typeface="Times New Roman"/>
                <a:ea typeface="Times New Roman"/>
                <a:cs typeface="Times New Roman"/>
                <a:sym typeface="Times New Roman"/>
              </a:rPr>
              <a:t>, while stable flight helps maintain consistent distance between the nozzles and crop.</a:t>
            </a:r>
            <a:endParaRPr sz="140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600" b="1">
                <a:solidFill>
                  <a:srgbClr val="000000"/>
                </a:solidFill>
                <a:latin typeface="Times New Roman"/>
                <a:ea typeface="Times New Roman"/>
                <a:cs typeface="Times New Roman"/>
                <a:sym typeface="Times New Roman"/>
              </a:rPr>
              <a:t>Goal</a:t>
            </a:r>
            <a:endParaRPr sz="160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400" b="1">
                <a:solidFill>
                  <a:srgbClr val="000000"/>
                </a:solidFill>
                <a:latin typeface="Times New Roman"/>
                <a:ea typeface="Times New Roman"/>
                <a:cs typeface="Times New Roman"/>
                <a:sym typeface="Times New Roman"/>
              </a:rPr>
              <a:t>Uniform Coverage • Controlled Application • Minimum Unnecessary Overlap</a:t>
            </a:r>
            <a:endParaRPr sz="1400"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solidFill>
                <a:srgbClr val="1B212C"/>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1"/>
        <p:cNvGrpSpPr/>
        <p:nvPr/>
      </p:nvGrpSpPr>
      <p:grpSpPr>
        <a:xfrm>
          <a:off x="0" y="0"/>
          <a:ext cx="0" cy="0"/>
          <a:chOff x="0" y="0"/>
          <a:chExt cx="0" cy="0"/>
        </a:xfrm>
      </p:grpSpPr>
      <p:sp>
        <p:nvSpPr>
          <p:cNvPr id="202" name="Google Shape;202;p34"/>
          <p:cNvSpPr txBox="1">
            <a:spLocks noGrp="1"/>
          </p:cNvSpPr>
          <p:nvPr>
            <p:ph type="title"/>
          </p:nvPr>
        </p:nvSpPr>
        <p:spPr>
          <a:xfrm>
            <a:off x="1297500" y="147625"/>
            <a:ext cx="7038900" cy="4848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400"/>
              </a:spcBef>
              <a:spcAft>
                <a:spcPts val="400"/>
              </a:spcAft>
              <a:buNone/>
            </a:pPr>
            <a:r>
              <a:rPr lang="en" sz="1900" b="1">
                <a:solidFill>
                  <a:srgbClr val="000000"/>
                </a:solidFill>
                <a:latin typeface="Times New Roman"/>
                <a:ea typeface="Times New Roman"/>
                <a:cs typeface="Times New Roman"/>
                <a:sym typeface="Times New Roman"/>
              </a:rPr>
              <a:t>Safety and reliability</a:t>
            </a:r>
            <a:endParaRPr sz="3000">
              <a:latin typeface="Times New Roman"/>
              <a:ea typeface="Times New Roman"/>
              <a:cs typeface="Times New Roman"/>
              <a:sym typeface="Times New Roman"/>
            </a:endParaRPr>
          </a:p>
        </p:txBody>
      </p:sp>
      <p:sp>
        <p:nvSpPr>
          <p:cNvPr id="203" name="Google Shape;203;p34"/>
          <p:cNvSpPr txBox="1">
            <a:spLocks noGrp="1"/>
          </p:cNvSpPr>
          <p:nvPr>
            <p:ph type="body" idx="1"/>
          </p:nvPr>
        </p:nvSpPr>
        <p:spPr>
          <a:xfrm>
            <a:off x="1037875" y="555249"/>
            <a:ext cx="8031300" cy="6061307"/>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spcBef>
                <a:spcPts val="1400"/>
              </a:spcBef>
              <a:spcAft>
                <a:spcPts val="0"/>
              </a:spcAft>
              <a:buNone/>
            </a:pPr>
            <a:r>
              <a:rPr lang="en" sz="1500" b="1" dirty="0">
                <a:solidFill>
                  <a:srgbClr val="000000"/>
                </a:solidFill>
                <a:latin typeface="Times New Roman"/>
                <a:ea typeface="Times New Roman"/>
                <a:cs typeface="Times New Roman"/>
                <a:sym typeface="Times New Roman"/>
              </a:rPr>
              <a:t>Safety by Design</a:t>
            </a:r>
            <a:endParaRPr sz="1500"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dirty="0">
                <a:solidFill>
                  <a:srgbClr val="000000"/>
                </a:solidFill>
                <a:latin typeface="Times New Roman"/>
                <a:ea typeface="Times New Roman"/>
                <a:cs typeface="Times New Roman"/>
                <a:sym typeface="Times New Roman"/>
              </a:rPr>
              <a:t>An approximately </a:t>
            </a:r>
            <a:r>
              <a:rPr lang="en" b="1" dirty="0">
                <a:solidFill>
                  <a:srgbClr val="000000"/>
                </a:solidFill>
                <a:latin typeface="Times New Roman"/>
                <a:ea typeface="Times New Roman"/>
                <a:cs typeface="Times New Roman"/>
                <a:sym typeface="Times New Roman"/>
              </a:rPr>
              <a:t>80 kg autonomous aircraft carrying a 20 L liquid payload</a:t>
            </a:r>
            <a:r>
              <a:rPr lang="en" dirty="0">
                <a:solidFill>
                  <a:srgbClr val="000000"/>
                </a:solidFill>
                <a:latin typeface="Times New Roman"/>
                <a:ea typeface="Times New Roman"/>
                <a:cs typeface="Times New Roman"/>
                <a:sym typeface="Times New Roman"/>
              </a:rPr>
              <a:t> requires multiple layers of monitoring and failsafe protection. Abnormal conditions should trigger an appropriate response instead of allowing the aircraft to continue an unsafe mission.</a:t>
            </a:r>
            <a:endParaRPr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00" b="1" dirty="0">
                <a:solidFill>
                  <a:srgbClr val="000000"/>
                </a:solidFill>
                <a:latin typeface="Times New Roman"/>
                <a:ea typeface="Times New Roman"/>
                <a:cs typeface="Times New Roman"/>
                <a:sym typeface="Times New Roman"/>
              </a:rPr>
              <a:t>Safety Functions</a:t>
            </a:r>
            <a:endParaRPr sz="1500" b="1" dirty="0">
              <a:solidFill>
                <a:srgbClr val="000000"/>
              </a:solidFill>
              <a:latin typeface="Times New Roman"/>
              <a:ea typeface="Times New Roman"/>
              <a:cs typeface="Times New Roman"/>
              <a:sym typeface="Times New Roman"/>
            </a:endParaRPr>
          </a:p>
          <a:p>
            <a:pPr marL="457200" lvl="0" indent="-311150" algn="l" rtl="0">
              <a:spcBef>
                <a:spcPts val="120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Battery monitoring</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GPS/navigation monitoring</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Communication monitoring</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Return-to-home</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Low-battery failsafe</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Mission termination</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Operator override</a:t>
            </a:r>
            <a:endParaRPr dirty="0">
              <a:solidFill>
                <a:srgbClr val="000000"/>
              </a:solidFill>
              <a:latin typeface="Times New Roman"/>
              <a:ea typeface="Times New Roman"/>
              <a:cs typeface="Times New Roman"/>
              <a:sym typeface="Times New Roman"/>
            </a:endParaRPr>
          </a:p>
          <a:p>
            <a:pPr marL="457200" lvl="0" indent="-311150" algn="l" rtl="0">
              <a:spcBef>
                <a:spcPts val="0"/>
              </a:spcBef>
              <a:spcAft>
                <a:spcPts val="0"/>
              </a:spcAft>
              <a:buClr>
                <a:srgbClr val="000000"/>
              </a:buClr>
              <a:buSzPts val="1300"/>
              <a:buFont typeface="Times New Roman"/>
              <a:buChar char="●"/>
            </a:pPr>
            <a:r>
              <a:rPr lang="en" dirty="0">
                <a:solidFill>
                  <a:srgbClr val="000000"/>
                </a:solidFill>
                <a:latin typeface="Times New Roman"/>
                <a:ea typeface="Times New Roman"/>
                <a:cs typeface="Times New Roman"/>
                <a:sym typeface="Times New Roman"/>
              </a:rPr>
              <a:t>Pre-flight checks</a:t>
            </a:r>
            <a:endParaRPr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00" b="1" dirty="0">
                <a:solidFill>
                  <a:srgbClr val="000000"/>
                </a:solidFill>
                <a:latin typeface="Times New Roman"/>
                <a:ea typeface="Times New Roman"/>
                <a:cs typeface="Times New Roman"/>
                <a:sym typeface="Times New Roman"/>
              </a:rPr>
              <a:t>Safety Logic</a:t>
            </a:r>
            <a:endParaRPr sz="1500"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b="1" dirty="0">
                <a:solidFill>
                  <a:srgbClr val="000000"/>
                </a:solidFill>
                <a:latin typeface="Times New Roman"/>
                <a:ea typeface="Times New Roman"/>
                <a:cs typeface="Times New Roman"/>
                <a:sym typeface="Times New Roman"/>
              </a:rPr>
              <a:t>Fault Detected → Failsafe → Safe Flight Mode → Return / Land</a:t>
            </a:r>
            <a:endParaRPr b="1" dirty="0">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1018"/>
              <a:buNone/>
            </a:pPr>
            <a:endParaRPr sz="1450" dirty="0">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1200"/>
              </a:spcAft>
              <a:buSzPts val="1018"/>
              <a:buNone/>
            </a:pPr>
            <a:endParaRPr sz="1203" dirty="0">
              <a:solidFill>
                <a:srgbClr val="1B212C"/>
              </a:solidFill>
            </a:endParaRPr>
          </a:p>
        </p:txBody>
      </p:sp>
      <p:grpSp>
        <p:nvGrpSpPr>
          <p:cNvPr id="204" name="Google Shape;204;p34"/>
          <p:cNvGrpSpPr/>
          <p:nvPr/>
        </p:nvGrpSpPr>
        <p:grpSpPr>
          <a:xfrm>
            <a:off x="-10" y="380985"/>
            <a:ext cx="1037884" cy="1016316"/>
            <a:chOff x="-10" y="380985"/>
            <a:chExt cx="1037884" cy="1016316"/>
          </a:xfrm>
        </p:grpSpPr>
        <p:sp>
          <p:nvSpPr>
            <p:cNvPr id="205" name="Google Shape;205;p34"/>
            <p:cNvSpPr/>
            <p:nvPr/>
          </p:nvSpPr>
          <p:spPr>
            <a:xfrm rot="-5400000">
              <a:off x="-10" y="380985"/>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6" name="Google Shape;206;p34"/>
            <p:cNvSpPr/>
            <p:nvPr/>
          </p:nvSpPr>
          <p:spPr>
            <a:xfrm flipH="1">
              <a:off x="229074"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p35"/>
          <p:cNvSpPr txBox="1">
            <a:spLocks noGrp="1"/>
          </p:cNvSpPr>
          <p:nvPr>
            <p:ph type="title"/>
          </p:nvPr>
        </p:nvSpPr>
        <p:spPr>
          <a:xfrm>
            <a:off x="1297500" y="393750"/>
            <a:ext cx="7038900" cy="6669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2226" b="1">
                <a:solidFill>
                  <a:srgbClr val="000000"/>
                </a:solidFill>
                <a:latin typeface="Times New Roman"/>
                <a:ea typeface="Times New Roman"/>
                <a:cs typeface="Times New Roman"/>
                <a:sym typeface="Times New Roman"/>
              </a:rPr>
              <a:t>System Architecture</a:t>
            </a:r>
            <a:endParaRPr/>
          </a:p>
        </p:txBody>
      </p:sp>
      <p:sp>
        <p:nvSpPr>
          <p:cNvPr id="212" name="Google Shape;212;p35"/>
          <p:cNvSpPr txBox="1">
            <a:spLocks noGrp="1"/>
          </p:cNvSpPr>
          <p:nvPr>
            <p:ph type="body" idx="1"/>
          </p:nvPr>
        </p:nvSpPr>
        <p:spPr>
          <a:xfrm>
            <a:off x="982700" y="1060650"/>
            <a:ext cx="7287600" cy="4374900"/>
          </a:xfrm>
          <a:prstGeom prst="rect">
            <a:avLst/>
          </a:prstGeom>
        </p:spPr>
        <p:txBody>
          <a:bodyPr spcFirstLastPara="1" wrap="square" lIns="91425" tIns="91425" rIns="91425" bIns="91425" anchor="t" anchorCtr="0">
            <a:normAutofit fontScale="47500" lnSpcReduction="20000"/>
          </a:bodyPr>
          <a:lstStyle/>
          <a:p>
            <a:pPr marL="0" lvl="0" indent="0" algn="l" rtl="0">
              <a:spcBef>
                <a:spcPts val="1400"/>
              </a:spcBef>
              <a:spcAft>
                <a:spcPts val="0"/>
              </a:spcAft>
              <a:buNone/>
            </a:pPr>
            <a:r>
              <a:rPr lang="en" sz="3186" b="1">
                <a:solidFill>
                  <a:srgbClr val="000000"/>
                </a:solidFill>
                <a:latin typeface="Times New Roman"/>
                <a:ea typeface="Times New Roman"/>
                <a:cs typeface="Times New Roman"/>
                <a:sym typeface="Times New Roman"/>
              </a:rPr>
              <a:t>How the Subsystems Connect</a:t>
            </a:r>
            <a:endParaRPr sz="318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3248">
                <a:solidFill>
                  <a:srgbClr val="000000"/>
                </a:solidFill>
                <a:latin typeface="Times New Roman"/>
                <a:ea typeface="Times New Roman"/>
                <a:cs typeface="Times New Roman"/>
                <a:sym typeface="Times New Roman"/>
              </a:rPr>
              <a:t>The UAV is designed as an integrated system rather than a collection of independent components. The flight controller acts as the main connection between sensing, navigation, propulsion, autonomous control, and mission execution.</a:t>
            </a:r>
            <a:endParaRPr sz="3248">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556" b="1">
                <a:solidFill>
                  <a:srgbClr val="000000"/>
                </a:solidFill>
                <a:latin typeface="Times New Roman"/>
                <a:ea typeface="Times New Roman"/>
                <a:cs typeface="Times New Roman"/>
                <a:sym typeface="Times New Roman"/>
              </a:rPr>
              <a:t>System-Level Flow</a:t>
            </a:r>
            <a:endParaRPr sz="25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Dual LiPo → Power Distribution → Propulsion</a:t>
            </a:r>
            <a:endParaRPr sz="23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RTK-GPS + Sensors → Flight Controller → Motor Control</a:t>
            </a:r>
            <a:endParaRPr sz="23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Mission Planner → Ground Station → UAV</a:t>
            </a:r>
            <a:endParaRPr sz="23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20 L Tank → Pump → Spray Boom</a:t>
            </a:r>
            <a:endParaRPr sz="2356" b="1">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556" b="1">
                <a:solidFill>
                  <a:srgbClr val="000000"/>
                </a:solidFill>
                <a:latin typeface="Times New Roman"/>
                <a:ea typeface="Times New Roman"/>
                <a:cs typeface="Times New Roman"/>
                <a:sym typeface="Times New Roman"/>
              </a:rPr>
              <a:t>Core Architecture</a:t>
            </a:r>
            <a:endParaRPr sz="25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Power → Compute → Control → Motion</a:t>
            </a:r>
            <a:endParaRPr sz="23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Navigation → Decision → Flight</a:t>
            </a:r>
            <a:endParaRPr sz="23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356" b="1">
                <a:solidFill>
                  <a:srgbClr val="000000"/>
                </a:solidFill>
                <a:latin typeface="Times New Roman"/>
                <a:ea typeface="Times New Roman"/>
                <a:cs typeface="Times New Roman"/>
                <a:sym typeface="Times New Roman"/>
              </a:rPr>
              <a:t>Payload → Delivery → Crop</a:t>
            </a:r>
            <a:endParaRPr sz="2356"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2419"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sz="1492"/>
          </a:p>
        </p:txBody>
      </p:sp>
      <p:grpSp>
        <p:nvGrpSpPr>
          <p:cNvPr id="213" name="Google Shape;213;p35"/>
          <p:cNvGrpSpPr/>
          <p:nvPr/>
        </p:nvGrpSpPr>
        <p:grpSpPr>
          <a:xfrm>
            <a:off x="-20" y="380976"/>
            <a:ext cx="1037891" cy="1016324"/>
            <a:chOff x="-20" y="380976"/>
            <a:chExt cx="1037891" cy="1016324"/>
          </a:xfrm>
        </p:grpSpPr>
        <p:sp>
          <p:nvSpPr>
            <p:cNvPr id="214" name="Google Shape;214;p35"/>
            <p:cNvSpPr/>
            <p:nvPr/>
          </p:nvSpPr>
          <p:spPr>
            <a:xfrm rot="-5400000">
              <a:off x="-20" y="380976"/>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5" name="Google Shape;215;p35"/>
            <p:cNvSpPr/>
            <p:nvPr/>
          </p:nvSpPr>
          <p:spPr>
            <a:xfrm flipH="1">
              <a:off x="229071"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9"/>
        <p:cNvGrpSpPr/>
        <p:nvPr/>
      </p:nvGrpSpPr>
      <p:grpSpPr>
        <a:xfrm>
          <a:off x="0" y="0"/>
          <a:ext cx="0" cy="0"/>
          <a:chOff x="0" y="0"/>
          <a:chExt cx="0" cy="0"/>
        </a:xfrm>
      </p:grpSpPr>
      <p:sp>
        <p:nvSpPr>
          <p:cNvPr id="220" name="Google Shape;220;p36"/>
          <p:cNvSpPr txBox="1">
            <a:spLocks noGrp="1"/>
          </p:cNvSpPr>
          <p:nvPr>
            <p:ph type="title"/>
          </p:nvPr>
        </p:nvSpPr>
        <p:spPr>
          <a:xfrm>
            <a:off x="1297500" y="393750"/>
            <a:ext cx="7038900" cy="480900"/>
          </a:xfrm>
          <a:prstGeom prst="rect">
            <a:avLst/>
          </a:prstGeom>
          <a:solidFill>
            <a:schemeClr val="dk2"/>
          </a:solidFill>
        </p:spPr>
        <p:txBody>
          <a:bodyPr spcFirstLastPara="1" wrap="square" lIns="91425" tIns="91425" rIns="91425" bIns="91425" anchor="t" anchorCtr="0">
            <a:normAutofit fontScale="90000"/>
          </a:bodyPr>
          <a:lstStyle/>
          <a:p>
            <a:pPr marL="0" lvl="0" indent="0" algn="l" rtl="0">
              <a:lnSpc>
                <a:spcPct val="115000"/>
              </a:lnSpc>
              <a:spcBef>
                <a:spcPts val="1800"/>
              </a:spcBef>
              <a:spcAft>
                <a:spcPts val="400"/>
              </a:spcAft>
              <a:buNone/>
            </a:pPr>
            <a:r>
              <a:rPr lang="en" sz="1829" b="1">
                <a:solidFill>
                  <a:srgbClr val="000000"/>
                </a:solidFill>
                <a:latin typeface="Times New Roman"/>
                <a:ea typeface="Times New Roman"/>
                <a:cs typeface="Times New Roman"/>
                <a:sym typeface="Times New Roman"/>
              </a:rPr>
              <a:t>Data &amp; Control Flow</a:t>
            </a:r>
            <a:endParaRPr/>
          </a:p>
        </p:txBody>
      </p:sp>
      <p:sp>
        <p:nvSpPr>
          <p:cNvPr id="221" name="Google Shape;221;p36"/>
          <p:cNvSpPr txBox="1">
            <a:spLocks noGrp="1"/>
          </p:cNvSpPr>
          <p:nvPr>
            <p:ph type="body" idx="1"/>
          </p:nvPr>
        </p:nvSpPr>
        <p:spPr>
          <a:xfrm>
            <a:off x="1297500" y="1076375"/>
            <a:ext cx="7084200" cy="38049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529" b="1">
                <a:solidFill>
                  <a:srgbClr val="000000"/>
                </a:solidFill>
                <a:latin typeface="Times New Roman"/>
                <a:ea typeface="Times New Roman"/>
                <a:cs typeface="Times New Roman"/>
                <a:sym typeface="Times New Roman"/>
              </a:rPr>
              <a:t>A Closed-Loop Autonomous System</a:t>
            </a:r>
            <a:endParaRPr sz="1529"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29">
                <a:solidFill>
                  <a:srgbClr val="000000"/>
                </a:solidFill>
                <a:latin typeface="Times New Roman"/>
                <a:ea typeface="Times New Roman"/>
                <a:cs typeface="Times New Roman"/>
                <a:sym typeface="Times New Roman"/>
              </a:rPr>
              <a:t>The aircraft continuously measures its actual condition and compares it with the desired mission state. The flight controller then adjusts the control commands to reduce errors and maintain the planned flight path.</a:t>
            </a:r>
            <a:endParaRPr sz="1329">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29" b="1">
                <a:solidFill>
                  <a:srgbClr val="000000"/>
                </a:solidFill>
                <a:latin typeface="Times New Roman"/>
                <a:ea typeface="Times New Roman"/>
                <a:cs typeface="Times New Roman"/>
                <a:sym typeface="Times New Roman"/>
              </a:rPr>
              <a:t>Control Loop</a:t>
            </a:r>
            <a:endParaRPr sz="1529"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29" b="1">
                <a:solidFill>
                  <a:srgbClr val="000000"/>
                </a:solidFill>
                <a:latin typeface="Times New Roman"/>
                <a:ea typeface="Times New Roman"/>
                <a:cs typeface="Times New Roman"/>
                <a:sym typeface="Times New Roman"/>
              </a:rPr>
              <a:t>Sensors → State Estimate → Flight Controller → Motor Commands → Aircraft Motion → Sensors</a:t>
            </a:r>
            <a:endParaRPr sz="1329" b="1">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1529" b="1">
                <a:solidFill>
                  <a:srgbClr val="000000"/>
                </a:solidFill>
                <a:latin typeface="Times New Roman"/>
                <a:ea typeface="Times New Roman"/>
                <a:cs typeface="Times New Roman"/>
                <a:sym typeface="Times New Roman"/>
              </a:rPr>
              <a:t>Mission Loop</a:t>
            </a:r>
            <a:endParaRPr sz="1529"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29" b="1">
                <a:solidFill>
                  <a:srgbClr val="000000"/>
                </a:solidFill>
                <a:latin typeface="Times New Roman"/>
                <a:ea typeface="Times New Roman"/>
                <a:cs typeface="Times New Roman"/>
                <a:sym typeface="Times New Roman"/>
              </a:rPr>
              <a:t>Mission Plan → Waypoint Tracking → Position Feedback → Correction</a:t>
            </a:r>
            <a:endParaRPr sz="1329"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329">
                <a:solidFill>
                  <a:srgbClr val="000000"/>
                </a:solidFill>
                <a:latin typeface="Times New Roman"/>
                <a:ea typeface="Times New Roman"/>
                <a:cs typeface="Times New Roman"/>
                <a:sym typeface="Times New Roman"/>
              </a:rPr>
              <a:t>This feedback structure allows the UAV to respond to disturbances instead of relying only on pre-programmed motor commands.</a:t>
            </a:r>
            <a:endParaRPr sz="1329">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p>
        </p:txBody>
      </p:sp>
      <p:grpSp>
        <p:nvGrpSpPr>
          <p:cNvPr id="222" name="Google Shape;222;p36"/>
          <p:cNvGrpSpPr/>
          <p:nvPr/>
        </p:nvGrpSpPr>
        <p:grpSpPr>
          <a:xfrm>
            <a:off x="-21" y="380982"/>
            <a:ext cx="1037890" cy="1016318"/>
            <a:chOff x="-21" y="380982"/>
            <a:chExt cx="1037890" cy="1016318"/>
          </a:xfrm>
        </p:grpSpPr>
        <p:sp>
          <p:nvSpPr>
            <p:cNvPr id="223" name="Google Shape;223;p36"/>
            <p:cNvSpPr/>
            <p:nvPr/>
          </p:nvSpPr>
          <p:spPr>
            <a:xfrm rot="-5400000">
              <a:off x="-21" y="380982"/>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4" name="Google Shape;224;p36"/>
            <p:cNvSpPr/>
            <p:nvPr/>
          </p:nvSpPr>
          <p:spPr>
            <a:xfrm flipH="1">
              <a:off x="229069"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8"/>
        <p:cNvGrpSpPr/>
        <p:nvPr/>
      </p:nvGrpSpPr>
      <p:grpSpPr>
        <a:xfrm>
          <a:off x="0" y="0"/>
          <a:ext cx="0" cy="0"/>
          <a:chOff x="0" y="0"/>
          <a:chExt cx="0" cy="0"/>
        </a:xfrm>
      </p:grpSpPr>
      <p:sp>
        <p:nvSpPr>
          <p:cNvPr id="229" name="Google Shape;229;p37"/>
          <p:cNvSpPr txBox="1">
            <a:spLocks noGrp="1"/>
          </p:cNvSpPr>
          <p:nvPr>
            <p:ph type="title"/>
          </p:nvPr>
        </p:nvSpPr>
        <p:spPr>
          <a:xfrm>
            <a:off x="1297500" y="393750"/>
            <a:ext cx="7038900" cy="471900"/>
          </a:xfrm>
          <a:prstGeom prst="rect">
            <a:avLst/>
          </a:prstGeom>
          <a:solidFill>
            <a:schemeClr val="dk2"/>
          </a:solidFill>
          <a:ln>
            <a:noFill/>
          </a:ln>
        </p:spPr>
        <p:txBody>
          <a:bodyPr spcFirstLastPara="1" wrap="square" lIns="91400" tIns="91400" rIns="91400" bIns="91400" anchor="t" anchorCtr="0">
            <a:normAutofit fontScale="90000"/>
          </a:bodyPr>
          <a:lstStyle/>
          <a:p>
            <a:pPr marL="0" lvl="0" indent="0" algn="l" rtl="0">
              <a:lnSpc>
                <a:spcPct val="95000"/>
              </a:lnSpc>
              <a:spcBef>
                <a:spcPts val="1800"/>
              </a:spcBef>
              <a:spcAft>
                <a:spcPts val="400"/>
              </a:spcAft>
              <a:buClr>
                <a:srgbClr val="000000"/>
              </a:buClr>
              <a:buSzPts val="688"/>
              <a:buFont typeface="Arial"/>
              <a:buNone/>
            </a:pPr>
            <a:r>
              <a:rPr lang="en" sz="1763" b="1">
                <a:solidFill>
                  <a:srgbClr val="000000"/>
                </a:solidFill>
                <a:latin typeface="Times New Roman"/>
                <a:ea typeface="Times New Roman"/>
                <a:cs typeface="Times New Roman"/>
                <a:sym typeface="Times New Roman"/>
              </a:rPr>
              <a:t>Integrated 3D Design</a:t>
            </a:r>
            <a:endParaRPr sz="2000" b="0" i="0">
              <a:solidFill>
                <a:srgbClr val="1B212C"/>
              </a:solidFill>
              <a:latin typeface="Arial"/>
              <a:ea typeface="Arial"/>
              <a:cs typeface="Arial"/>
              <a:sym typeface="Arial"/>
            </a:endParaRPr>
          </a:p>
        </p:txBody>
      </p:sp>
      <p:sp>
        <p:nvSpPr>
          <p:cNvPr id="230" name="Google Shape;230;p37"/>
          <p:cNvSpPr txBox="1">
            <a:spLocks noGrp="1"/>
          </p:cNvSpPr>
          <p:nvPr>
            <p:ph type="body" idx="1"/>
          </p:nvPr>
        </p:nvSpPr>
        <p:spPr>
          <a:xfrm>
            <a:off x="1138725" y="1048875"/>
            <a:ext cx="7197600" cy="37773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lnSpc>
                <a:spcPct val="95000"/>
              </a:lnSpc>
              <a:spcBef>
                <a:spcPts val="1400"/>
              </a:spcBef>
              <a:spcAft>
                <a:spcPts val="0"/>
              </a:spcAft>
              <a:buSzPts val="688"/>
              <a:buNone/>
            </a:pPr>
            <a:r>
              <a:rPr lang="en" sz="1313" b="1">
                <a:solidFill>
                  <a:srgbClr val="000000"/>
                </a:solidFill>
                <a:latin typeface="Times New Roman"/>
                <a:ea typeface="Times New Roman"/>
                <a:cs typeface="Times New Roman"/>
                <a:sym typeface="Times New Roman"/>
              </a:rPr>
              <a:t>Final Aircraft Concept</a:t>
            </a:r>
            <a:endParaRPr sz="1313"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688"/>
              <a:buNone/>
            </a:pPr>
            <a:r>
              <a:rPr lang="en" sz="1188">
                <a:solidFill>
                  <a:srgbClr val="000000"/>
                </a:solidFill>
                <a:latin typeface="Times New Roman"/>
                <a:ea typeface="Times New Roman"/>
                <a:cs typeface="Times New Roman"/>
                <a:sym typeface="Times New Roman"/>
              </a:rPr>
              <a:t>The final 3D model brings the structural frame, propulsion, payload, avionics, and spraying equipment together into one aircraft. This provides a practical visual check of how the different engineering decisions fit into the same physical platform.</a:t>
            </a:r>
            <a:endParaRPr sz="1188">
              <a:solidFill>
                <a:srgbClr val="000000"/>
              </a:solidFill>
              <a:latin typeface="Times New Roman"/>
              <a:ea typeface="Times New Roman"/>
              <a:cs typeface="Times New Roman"/>
              <a:sym typeface="Times New Roman"/>
            </a:endParaRPr>
          </a:p>
          <a:p>
            <a:pPr marL="0" lvl="0" indent="0" algn="l" rtl="0">
              <a:lnSpc>
                <a:spcPct val="95000"/>
              </a:lnSpc>
              <a:spcBef>
                <a:spcPts val="1400"/>
              </a:spcBef>
              <a:spcAft>
                <a:spcPts val="0"/>
              </a:spcAft>
              <a:buSzPts val="688"/>
              <a:buNone/>
            </a:pPr>
            <a:r>
              <a:rPr lang="en" sz="1313" b="1">
                <a:solidFill>
                  <a:srgbClr val="000000"/>
                </a:solidFill>
                <a:latin typeface="Times New Roman"/>
                <a:ea typeface="Times New Roman"/>
                <a:cs typeface="Times New Roman"/>
                <a:sym typeface="Times New Roman"/>
              </a:rPr>
              <a:t>Design Checks</a:t>
            </a:r>
            <a:endParaRPr sz="1313" b="1">
              <a:solidFill>
                <a:srgbClr val="000000"/>
              </a:solidFill>
              <a:latin typeface="Times New Roman"/>
              <a:ea typeface="Times New Roman"/>
              <a:cs typeface="Times New Roman"/>
              <a:sym typeface="Times New Roman"/>
            </a:endParaRPr>
          </a:p>
          <a:p>
            <a:pPr marL="457200" lvl="0" indent="-304006" algn="l" rtl="0">
              <a:lnSpc>
                <a:spcPct val="95000"/>
              </a:lnSpc>
              <a:spcBef>
                <a:spcPts val="120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Component interference</a:t>
            </a:r>
            <a:endParaRPr sz="1188">
              <a:solidFill>
                <a:srgbClr val="000000"/>
              </a:solidFill>
              <a:latin typeface="Times New Roman"/>
              <a:ea typeface="Times New Roman"/>
              <a:cs typeface="Times New Roman"/>
              <a:sym typeface="Times New Roman"/>
            </a:endParaRPr>
          </a:p>
          <a:p>
            <a:pPr marL="457200" lvl="0" indent="-304006" algn="l" rtl="0">
              <a:lnSpc>
                <a:spcPct val="95000"/>
              </a:lnSpc>
              <a:spcBef>
                <a:spcPts val="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Propeller clearance</a:t>
            </a:r>
            <a:endParaRPr sz="1188">
              <a:solidFill>
                <a:srgbClr val="000000"/>
              </a:solidFill>
              <a:latin typeface="Times New Roman"/>
              <a:ea typeface="Times New Roman"/>
              <a:cs typeface="Times New Roman"/>
              <a:sym typeface="Times New Roman"/>
            </a:endParaRPr>
          </a:p>
          <a:p>
            <a:pPr marL="457200" lvl="0" indent="-304006" algn="l" rtl="0">
              <a:lnSpc>
                <a:spcPct val="95000"/>
              </a:lnSpc>
              <a:spcBef>
                <a:spcPts val="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Tank placement</a:t>
            </a:r>
            <a:endParaRPr sz="1188">
              <a:solidFill>
                <a:srgbClr val="000000"/>
              </a:solidFill>
              <a:latin typeface="Times New Roman"/>
              <a:ea typeface="Times New Roman"/>
              <a:cs typeface="Times New Roman"/>
              <a:sym typeface="Times New Roman"/>
            </a:endParaRPr>
          </a:p>
          <a:p>
            <a:pPr marL="457200" lvl="0" indent="-304006" algn="l" rtl="0">
              <a:lnSpc>
                <a:spcPct val="95000"/>
              </a:lnSpc>
              <a:spcBef>
                <a:spcPts val="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Spray-boom position</a:t>
            </a:r>
            <a:endParaRPr sz="1188">
              <a:solidFill>
                <a:srgbClr val="000000"/>
              </a:solidFill>
              <a:latin typeface="Times New Roman"/>
              <a:ea typeface="Times New Roman"/>
              <a:cs typeface="Times New Roman"/>
              <a:sym typeface="Times New Roman"/>
            </a:endParaRPr>
          </a:p>
          <a:p>
            <a:pPr marL="457200" lvl="0" indent="-304006" algn="l" rtl="0">
              <a:lnSpc>
                <a:spcPct val="95000"/>
              </a:lnSpc>
              <a:spcBef>
                <a:spcPts val="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Ground clearance</a:t>
            </a:r>
            <a:endParaRPr sz="1188">
              <a:solidFill>
                <a:srgbClr val="000000"/>
              </a:solidFill>
              <a:latin typeface="Times New Roman"/>
              <a:ea typeface="Times New Roman"/>
              <a:cs typeface="Times New Roman"/>
              <a:sym typeface="Times New Roman"/>
            </a:endParaRPr>
          </a:p>
          <a:p>
            <a:pPr marL="457200" lvl="0" indent="-304006" algn="l" rtl="0">
              <a:lnSpc>
                <a:spcPct val="95000"/>
              </a:lnSpc>
              <a:spcBef>
                <a:spcPts val="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Maintenance access</a:t>
            </a:r>
            <a:endParaRPr sz="1188">
              <a:solidFill>
                <a:srgbClr val="000000"/>
              </a:solidFill>
              <a:latin typeface="Times New Roman"/>
              <a:ea typeface="Times New Roman"/>
              <a:cs typeface="Times New Roman"/>
              <a:sym typeface="Times New Roman"/>
            </a:endParaRPr>
          </a:p>
          <a:p>
            <a:pPr marL="457200" lvl="0" indent="-304006" algn="l" rtl="0">
              <a:lnSpc>
                <a:spcPct val="95000"/>
              </a:lnSpc>
              <a:spcBef>
                <a:spcPts val="0"/>
              </a:spcBef>
              <a:spcAft>
                <a:spcPts val="0"/>
              </a:spcAft>
              <a:buClr>
                <a:srgbClr val="000000"/>
              </a:buClr>
              <a:buSzPts val="1188"/>
              <a:buFont typeface="Times New Roman"/>
              <a:buChar char="●"/>
            </a:pPr>
            <a:r>
              <a:rPr lang="en" sz="1188">
                <a:solidFill>
                  <a:srgbClr val="000000"/>
                </a:solidFill>
                <a:latin typeface="Times New Roman"/>
                <a:ea typeface="Times New Roman"/>
                <a:cs typeface="Times New Roman"/>
                <a:sym typeface="Times New Roman"/>
              </a:rPr>
              <a:t>Overall proportions</a:t>
            </a:r>
            <a:endParaRPr sz="1188">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688"/>
              <a:buNone/>
            </a:pPr>
            <a:r>
              <a:rPr lang="en" sz="1188">
                <a:solidFill>
                  <a:srgbClr val="000000"/>
                </a:solidFill>
                <a:latin typeface="Times New Roman"/>
                <a:ea typeface="Times New Roman"/>
                <a:cs typeface="Times New Roman"/>
                <a:sym typeface="Times New Roman"/>
              </a:rPr>
              <a:t>NEBIYU SHOW OFF PLACE </a:t>
            </a:r>
            <a:endParaRPr sz="1188">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688"/>
              <a:buNone/>
            </a:pPr>
            <a:endParaRPr sz="1188">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0"/>
              </a:spcAft>
              <a:buSzPts val="688"/>
              <a:buNone/>
            </a:pPr>
            <a:endParaRPr sz="1188" b="1">
              <a:solidFill>
                <a:srgbClr val="000000"/>
              </a:solidFill>
              <a:latin typeface="Times New Roman"/>
              <a:ea typeface="Times New Roman"/>
              <a:cs typeface="Times New Roman"/>
              <a:sym typeface="Times New Roman"/>
            </a:endParaRPr>
          </a:p>
          <a:p>
            <a:pPr marL="0" lvl="0" indent="0" algn="l" rtl="0">
              <a:lnSpc>
                <a:spcPct val="95000"/>
              </a:lnSpc>
              <a:spcBef>
                <a:spcPts val="1200"/>
              </a:spcBef>
              <a:spcAft>
                <a:spcPts val="1200"/>
              </a:spcAft>
              <a:buSzPts val="688"/>
              <a:buNone/>
            </a:pPr>
            <a:endParaRPr sz="813">
              <a:solidFill>
                <a:srgbClr val="1B212C"/>
              </a:solidFill>
            </a:endParaRPr>
          </a:p>
        </p:txBody>
      </p:sp>
      <p:grpSp>
        <p:nvGrpSpPr>
          <p:cNvPr id="231" name="Google Shape;231;p37"/>
          <p:cNvGrpSpPr/>
          <p:nvPr/>
        </p:nvGrpSpPr>
        <p:grpSpPr>
          <a:xfrm>
            <a:off x="-21" y="380982"/>
            <a:ext cx="1037890" cy="1016318"/>
            <a:chOff x="-21" y="380982"/>
            <a:chExt cx="1037890" cy="1016318"/>
          </a:xfrm>
        </p:grpSpPr>
        <p:sp>
          <p:nvSpPr>
            <p:cNvPr id="232" name="Google Shape;232;p37"/>
            <p:cNvSpPr/>
            <p:nvPr/>
          </p:nvSpPr>
          <p:spPr>
            <a:xfrm rot="-5400000">
              <a:off x="-21" y="380982"/>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33" name="Google Shape;233;p37"/>
            <p:cNvSpPr/>
            <p:nvPr/>
          </p:nvSpPr>
          <p:spPr>
            <a:xfrm flipH="1">
              <a:off x="229069"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7"/>
        <p:cNvGrpSpPr/>
        <p:nvPr/>
      </p:nvGrpSpPr>
      <p:grpSpPr>
        <a:xfrm>
          <a:off x="0" y="0"/>
          <a:ext cx="0" cy="0"/>
          <a:chOff x="0" y="0"/>
          <a:chExt cx="0" cy="0"/>
        </a:xfrm>
      </p:grpSpPr>
      <p:sp>
        <p:nvSpPr>
          <p:cNvPr id="238" name="Google Shape;238;p38"/>
          <p:cNvSpPr txBox="1">
            <a:spLocks noGrp="1"/>
          </p:cNvSpPr>
          <p:nvPr>
            <p:ph type="title"/>
          </p:nvPr>
        </p:nvSpPr>
        <p:spPr>
          <a:xfrm>
            <a:off x="1297500" y="393750"/>
            <a:ext cx="7038900" cy="490200"/>
          </a:xfrm>
          <a:prstGeom prst="rect">
            <a:avLst/>
          </a:prstGeom>
          <a:solidFill>
            <a:schemeClr val="dk2"/>
          </a:solidFill>
          <a:ln>
            <a:noFill/>
          </a:ln>
        </p:spPr>
        <p:txBody>
          <a:bodyPr spcFirstLastPara="1" wrap="square" lIns="91400" tIns="91400" rIns="91400" bIns="91400" anchor="t" anchorCtr="0">
            <a:normAutofit fontScale="90000"/>
          </a:bodyPr>
          <a:lstStyle/>
          <a:p>
            <a:pPr marL="0" lvl="0" indent="0" algn="l" rtl="0">
              <a:lnSpc>
                <a:spcPct val="115000"/>
              </a:lnSpc>
              <a:spcBef>
                <a:spcPts val="1800"/>
              </a:spcBef>
              <a:spcAft>
                <a:spcPts val="400"/>
              </a:spcAft>
              <a:buNone/>
            </a:pPr>
            <a:r>
              <a:rPr lang="en" sz="1900" b="1">
                <a:solidFill>
                  <a:srgbClr val="000000"/>
                </a:solidFill>
                <a:latin typeface="Times New Roman"/>
                <a:ea typeface="Times New Roman"/>
                <a:cs typeface="Times New Roman"/>
                <a:sym typeface="Times New Roman"/>
              </a:rPr>
              <a:t>3D Design &amp; Airframe Layout</a:t>
            </a:r>
            <a:endParaRPr sz="1600" i="0">
              <a:solidFill>
                <a:srgbClr val="1B212C"/>
              </a:solidFill>
              <a:latin typeface="Times New Roman"/>
              <a:ea typeface="Times New Roman"/>
              <a:cs typeface="Times New Roman"/>
              <a:sym typeface="Times New Roman"/>
            </a:endParaRPr>
          </a:p>
        </p:txBody>
      </p:sp>
      <p:sp>
        <p:nvSpPr>
          <p:cNvPr id="239" name="Google Shape;239;p38"/>
          <p:cNvSpPr txBox="1">
            <a:spLocks noGrp="1"/>
          </p:cNvSpPr>
          <p:nvPr>
            <p:ph type="body" idx="1"/>
          </p:nvPr>
        </p:nvSpPr>
        <p:spPr>
          <a:xfrm>
            <a:off x="1166225" y="966350"/>
            <a:ext cx="7170300" cy="4290900"/>
          </a:xfrm>
          <a:prstGeom prst="rect">
            <a:avLst/>
          </a:prstGeom>
          <a:solidFill>
            <a:srgbClr val="000000">
              <a:alpha val="0"/>
            </a:srgbClr>
          </a:solidFill>
          <a:ln>
            <a:noFill/>
          </a:ln>
        </p:spPr>
        <p:txBody>
          <a:bodyPr spcFirstLastPara="1" wrap="square" lIns="91400" tIns="91400" rIns="91400" bIns="91400" anchor="t" anchorCtr="0">
            <a:normAutofit fontScale="55000" lnSpcReduction="20000"/>
          </a:bodyPr>
          <a:lstStyle/>
          <a:p>
            <a:pPr marL="0" lvl="0" indent="0" algn="l" rtl="0">
              <a:spcBef>
                <a:spcPts val="1400"/>
              </a:spcBef>
              <a:spcAft>
                <a:spcPts val="0"/>
              </a:spcAft>
              <a:buNone/>
            </a:pPr>
            <a:r>
              <a:rPr lang="en" sz="2706" b="1" dirty="0">
                <a:solidFill>
                  <a:srgbClr val="000000"/>
                </a:solidFill>
                <a:latin typeface="Times New Roman"/>
                <a:ea typeface="Times New Roman"/>
                <a:cs typeface="Times New Roman"/>
                <a:sym typeface="Times New Roman"/>
              </a:rPr>
              <a:t>T</a:t>
            </a:r>
            <a:r>
              <a:rPr lang="en" sz="2306" b="1" dirty="0">
                <a:solidFill>
                  <a:srgbClr val="000000"/>
                </a:solidFill>
                <a:latin typeface="Times New Roman"/>
                <a:ea typeface="Times New Roman"/>
                <a:cs typeface="Times New Roman"/>
                <a:sym typeface="Times New Roman"/>
              </a:rPr>
              <a:t>urning the Concept Into a Physical Design</a:t>
            </a:r>
            <a:endParaRPr sz="2306"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106" dirty="0">
                <a:solidFill>
                  <a:srgbClr val="000000"/>
                </a:solidFill>
                <a:latin typeface="Times New Roman"/>
                <a:ea typeface="Times New Roman"/>
                <a:cs typeface="Times New Roman"/>
                <a:sym typeface="Times New Roman"/>
              </a:rPr>
              <a:t>The 3D model translates the engineering concept into a physical aircraft arrangement. It allows component placement, balance, clearance, structural support, and access to be considered before physical construction.</a:t>
            </a:r>
            <a:endParaRPr sz="2106"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306" b="1" dirty="0">
                <a:solidFill>
                  <a:srgbClr val="000000"/>
                </a:solidFill>
                <a:latin typeface="Times New Roman"/>
                <a:ea typeface="Times New Roman"/>
                <a:cs typeface="Times New Roman"/>
                <a:sym typeface="Times New Roman"/>
              </a:rPr>
              <a:t>Layout Priorities</a:t>
            </a:r>
            <a:endParaRPr sz="2306" b="1" dirty="0">
              <a:solidFill>
                <a:srgbClr val="000000"/>
              </a:solidFill>
              <a:latin typeface="Times New Roman"/>
              <a:ea typeface="Times New Roman"/>
              <a:cs typeface="Times New Roman"/>
              <a:sym typeface="Times New Roman"/>
            </a:endParaRPr>
          </a:p>
          <a:p>
            <a:pPr marL="457200" lvl="0" indent="-302154" algn="l" rtl="0">
              <a:spcBef>
                <a:spcPts val="120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Balanced mass distribution</a:t>
            </a:r>
            <a:endParaRPr sz="2106" dirty="0">
              <a:solidFill>
                <a:srgbClr val="000000"/>
              </a:solidFill>
              <a:latin typeface="Times New Roman"/>
              <a:ea typeface="Times New Roman"/>
              <a:cs typeface="Times New Roman"/>
              <a:sym typeface="Times New Roman"/>
            </a:endParaRPr>
          </a:p>
          <a:p>
            <a:pPr marL="457200" lvl="0" indent="-302154" algn="l" rtl="0">
              <a:spcBef>
                <a:spcPts val="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Propeller clearance</a:t>
            </a:r>
            <a:endParaRPr sz="2106" dirty="0">
              <a:solidFill>
                <a:srgbClr val="000000"/>
              </a:solidFill>
              <a:latin typeface="Times New Roman"/>
              <a:ea typeface="Times New Roman"/>
              <a:cs typeface="Times New Roman"/>
              <a:sym typeface="Times New Roman"/>
            </a:endParaRPr>
          </a:p>
          <a:p>
            <a:pPr marL="457200" lvl="0" indent="-302154" algn="l" rtl="0">
              <a:spcBef>
                <a:spcPts val="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Central payload placement</a:t>
            </a:r>
            <a:endParaRPr sz="2106" dirty="0">
              <a:solidFill>
                <a:srgbClr val="000000"/>
              </a:solidFill>
              <a:latin typeface="Times New Roman"/>
              <a:ea typeface="Times New Roman"/>
              <a:cs typeface="Times New Roman"/>
              <a:sym typeface="Times New Roman"/>
            </a:endParaRPr>
          </a:p>
          <a:p>
            <a:pPr marL="457200" lvl="0" indent="-302154" algn="l" rtl="0">
              <a:spcBef>
                <a:spcPts val="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Battery accessibility</a:t>
            </a:r>
            <a:endParaRPr sz="2106" dirty="0">
              <a:solidFill>
                <a:srgbClr val="000000"/>
              </a:solidFill>
              <a:latin typeface="Times New Roman"/>
              <a:ea typeface="Times New Roman"/>
              <a:cs typeface="Times New Roman"/>
              <a:sym typeface="Times New Roman"/>
            </a:endParaRPr>
          </a:p>
          <a:p>
            <a:pPr marL="457200" lvl="0" indent="-302154" algn="l" rtl="0">
              <a:spcBef>
                <a:spcPts val="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Protected electronics</a:t>
            </a:r>
            <a:endParaRPr sz="2106" dirty="0">
              <a:solidFill>
                <a:srgbClr val="000000"/>
              </a:solidFill>
              <a:latin typeface="Times New Roman"/>
              <a:ea typeface="Times New Roman"/>
              <a:cs typeface="Times New Roman"/>
              <a:sym typeface="Times New Roman"/>
            </a:endParaRPr>
          </a:p>
          <a:p>
            <a:pPr marL="457200" lvl="0" indent="-302154" algn="l" rtl="0">
              <a:spcBef>
                <a:spcPts val="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Ground clearance</a:t>
            </a:r>
            <a:endParaRPr sz="2106" dirty="0">
              <a:solidFill>
                <a:srgbClr val="000000"/>
              </a:solidFill>
              <a:latin typeface="Times New Roman"/>
              <a:ea typeface="Times New Roman"/>
              <a:cs typeface="Times New Roman"/>
              <a:sym typeface="Times New Roman"/>
            </a:endParaRPr>
          </a:p>
          <a:p>
            <a:pPr marL="457200" lvl="0" indent="-302154" algn="l" rtl="0">
              <a:spcBef>
                <a:spcPts val="0"/>
              </a:spcBef>
              <a:spcAft>
                <a:spcPts val="0"/>
              </a:spcAft>
              <a:buClr>
                <a:srgbClr val="000000"/>
              </a:buClr>
              <a:buSzPct val="100000"/>
              <a:buFont typeface="Times New Roman"/>
              <a:buChar char="●"/>
            </a:pPr>
            <a:r>
              <a:rPr lang="en" sz="2106" dirty="0">
                <a:solidFill>
                  <a:srgbClr val="000000"/>
                </a:solidFill>
                <a:latin typeface="Times New Roman"/>
                <a:ea typeface="Times New Roman"/>
                <a:cs typeface="Times New Roman"/>
                <a:sym typeface="Times New Roman"/>
              </a:rPr>
              <a:t>Clear spray path</a:t>
            </a:r>
            <a:endParaRPr sz="2106" dirty="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306" b="1" dirty="0">
                <a:solidFill>
                  <a:srgbClr val="000000"/>
                </a:solidFill>
                <a:latin typeface="Times New Roman"/>
                <a:ea typeface="Times New Roman"/>
                <a:cs typeface="Times New Roman"/>
                <a:sym typeface="Times New Roman"/>
              </a:rPr>
              <a:t>Layout Principle</a:t>
            </a:r>
            <a:endParaRPr sz="2306"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106" b="1" dirty="0">
                <a:solidFill>
                  <a:srgbClr val="000000"/>
                </a:solidFill>
                <a:latin typeface="Times New Roman"/>
                <a:ea typeface="Times New Roman"/>
                <a:cs typeface="Times New Roman"/>
                <a:sym typeface="Times New Roman"/>
              </a:rPr>
              <a:t>Payload + Battery + Electronics →</a:t>
            </a:r>
            <a:endParaRPr sz="2106"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106" b="1" dirty="0">
                <a:solidFill>
                  <a:srgbClr val="000000"/>
                </a:solidFill>
                <a:latin typeface="Times New Roman"/>
                <a:ea typeface="Times New Roman"/>
                <a:cs typeface="Times New Roman"/>
                <a:sym typeface="Times New Roman"/>
              </a:rPr>
              <a:t> Central Region</a:t>
            </a:r>
            <a:endParaRPr sz="2106" b="1" dirty="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2106" b="1" dirty="0">
                <a:solidFill>
                  <a:srgbClr val="000000"/>
                </a:solidFill>
                <a:latin typeface="Times New Roman"/>
                <a:ea typeface="Times New Roman"/>
                <a:cs typeface="Times New Roman"/>
                <a:sym typeface="Times New Roman"/>
              </a:rPr>
              <a:t>Propulsion Units → Symmetric Around Center</a:t>
            </a:r>
            <a:endParaRPr sz="2106" b="1" dirty="0">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dirty="0">
              <a:solidFill>
                <a:srgbClr val="1B212C"/>
              </a:solidFill>
            </a:endParaRPr>
          </a:p>
        </p:txBody>
      </p:sp>
      <p:grpSp>
        <p:nvGrpSpPr>
          <p:cNvPr id="240" name="Google Shape;240;p38"/>
          <p:cNvGrpSpPr/>
          <p:nvPr/>
        </p:nvGrpSpPr>
        <p:grpSpPr>
          <a:xfrm>
            <a:off x="-21" y="380982"/>
            <a:ext cx="1037890" cy="1016318"/>
            <a:chOff x="-21" y="380982"/>
            <a:chExt cx="1037890" cy="1016318"/>
          </a:xfrm>
        </p:grpSpPr>
        <p:sp>
          <p:nvSpPr>
            <p:cNvPr id="241" name="Google Shape;241;p38"/>
            <p:cNvSpPr/>
            <p:nvPr/>
          </p:nvSpPr>
          <p:spPr>
            <a:xfrm rot="-5400000">
              <a:off x="-21" y="380982"/>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42" name="Google Shape;242;p38"/>
            <p:cNvSpPr/>
            <p:nvPr/>
          </p:nvSpPr>
          <p:spPr>
            <a:xfrm flipH="1">
              <a:off x="229069"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 </a:t>
            </a:r>
            <a:endParaRPr/>
          </a:p>
        </p:txBody>
      </p:sp>
      <p:sp>
        <p:nvSpPr>
          <p:cNvPr id="248" name="Google Shape;248;p39"/>
          <p:cNvSpPr txBox="1">
            <a:spLocks noGrp="1"/>
          </p:cNvSpPr>
          <p:nvPr>
            <p:ph type="body" idx="1"/>
          </p:nvPr>
        </p:nvSpPr>
        <p:spPr>
          <a:xfrm>
            <a:off x="95825" y="479075"/>
            <a:ext cx="62400" cy="1071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1200"/>
              </a:spcAft>
              <a:buNone/>
            </a:pPr>
            <a:endParaRPr/>
          </a:p>
        </p:txBody>
      </p:sp>
      <p:pic>
        <p:nvPicPr>
          <p:cNvPr id="3" name="Picture 2">
            <a:extLst>
              <a:ext uri="{FF2B5EF4-FFF2-40B4-BE49-F238E27FC236}">
                <a16:creationId xmlns:a16="http://schemas.microsoft.com/office/drawing/2014/main" xmlns="" id="{CC8BB8AB-AE4F-E7E5-CAD3-7EE9DA5986C1}"/>
              </a:ext>
            </a:extLst>
          </p:cNvPr>
          <p:cNvPicPr>
            <a:picLocks noChangeAspect="1"/>
          </p:cNvPicPr>
          <p:nvPr/>
        </p:nvPicPr>
        <p:blipFill>
          <a:blip r:embed="rId3"/>
          <a:stretch>
            <a:fillRect/>
          </a:stretch>
        </p:blipFill>
        <p:spPr>
          <a:xfrm>
            <a:off x="1511240" y="532625"/>
            <a:ext cx="5629299" cy="39645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
        <p:nvSpPr>
          <p:cNvPr id="257" name="Google Shape;257;p40"/>
          <p:cNvSpPr txBox="1">
            <a:spLocks noGrp="1"/>
          </p:cNvSpPr>
          <p:nvPr>
            <p:ph type="title"/>
          </p:nvPr>
        </p:nvSpPr>
        <p:spPr>
          <a:xfrm>
            <a:off x="1297500" y="393750"/>
            <a:ext cx="7038900" cy="403500"/>
          </a:xfrm>
          <a:prstGeom prst="rect">
            <a:avLst/>
          </a:prstGeom>
          <a:solidFill>
            <a:schemeClr val="dk2"/>
          </a:solidFill>
          <a:ln>
            <a:noFill/>
          </a:ln>
        </p:spPr>
        <p:txBody>
          <a:bodyPr spcFirstLastPara="1" wrap="square" lIns="91400" tIns="91400" rIns="91400" bIns="91400" anchor="t" anchorCtr="0">
            <a:noAutofit/>
          </a:bodyPr>
          <a:lstStyle/>
          <a:p>
            <a:pPr marL="0" lvl="0" indent="0" algn="l" rtl="0">
              <a:lnSpc>
                <a:spcPct val="115000"/>
              </a:lnSpc>
              <a:spcBef>
                <a:spcPts val="1800"/>
              </a:spcBef>
              <a:spcAft>
                <a:spcPts val="400"/>
              </a:spcAft>
              <a:buSzPts val="990"/>
              <a:buNone/>
            </a:pPr>
            <a:r>
              <a:rPr lang="en" sz="1830" b="1">
                <a:solidFill>
                  <a:srgbClr val="000000"/>
                </a:solidFill>
                <a:latin typeface="Times New Roman"/>
                <a:ea typeface="Times New Roman"/>
                <a:cs typeface="Times New Roman"/>
                <a:sym typeface="Times New Roman"/>
              </a:rPr>
              <a:t>Simulation &amp; Validation</a:t>
            </a:r>
            <a:endParaRPr sz="1560" i="0">
              <a:solidFill>
                <a:srgbClr val="1B212C"/>
              </a:solidFill>
              <a:latin typeface="Times New Roman"/>
              <a:ea typeface="Times New Roman"/>
              <a:cs typeface="Times New Roman"/>
              <a:sym typeface="Times New Roman"/>
            </a:endParaRPr>
          </a:p>
        </p:txBody>
      </p:sp>
      <p:sp>
        <p:nvSpPr>
          <p:cNvPr id="258" name="Google Shape;258;p40"/>
          <p:cNvSpPr txBox="1">
            <a:spLocks noGrp="1"/>
          </p:cNvSpPr>
          <p:nvPr>
            <p:ph type="body" idx="1"/>
          </p:nvPr>
        </p:nvSpPr>
        <p:spPr>
          <a:xfrm>
            <a:off x="1074550" y="797250"/>
            <a:ext cx="7261800" cy="4175700"/>
          </a:xfrm>
          <a:prstGeom prst="rect">
            <a:avLst/>
          </a:prstGeom>
          <a:solidFill>
            <a:srgbClr val="000000">
              <a:alpha val="0"/>
            </a:srgbClr>
          </a:solidFill>
          <a:ln>
            <a:noFill/>
          </a:ln>
        </p:spPr>
        <p:txBody>
          <a:bodyPr spcFirstLastPara="1" wrap="square" lIns="91400" tIns="91400" rIns="91400" bIns="91400" anchor="t" anchorCtr="0">
            <a:normAutofit fontScale="85000" lnSpcReduction="10000"/>
          </a:bodyPr>
          <a:lstStyle/>
          <a:p>
            <a:pPr marL="0" lvl="0" indent="0" algn="l" rtl="0">
              <a:spcBef>
                <a:spcPts val="1400"/>
              </a:spcBef>
              <a:spcAft>
                <a:spcPts val="0"/>
              </a:spcAft>
              <a:buNone/>
            </a:pPr>
            <a:r>
              <a:rPr lang="en" sz="1810">
                <a:solidFill>
                  <a:srgbClr val="000000"/>
                </a:solidFill>
                <a:latin typeface="Times New Roman"/>
                <a:ea typeface="Times New Roman"/>
                <a:cs typeface="Times New Roman"/>
                <a:sym typeface="Times New Roman"/>
              </a:rPr>
              <a:t> </a:t>
            </a:r>
            <a:r>
              <a:rPr lang="en" sz="2010" b="1">
                <a:solidFill>
                  <a:srgbClr val="000000"/>
                </a:solidFill>
                <a:latin typeface="Times New Roman"/>
                <a:ea typeface="Times New Roman"/>
                <a:cs typeface="Times New Roman"/>
                <a:sym typeface="Times New Roman"/>
              </a:rPr>
              <a:t>Testing the Concept Before Flight</a:t>
            </a:r>
            <a:endParaRPr sz="201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810">
                <a:solidFill>
                  <a:srgbClr val="000000"/>
                </a:solidFill>
                <a:latin typeface="Times New Roman"/>
                <a:ea typeface="Times New Roman"/>
                <a:cs typeface="Times New Roman"/>
                <a:sym typeface="Times New Roman"/>
              </a:rPr>
              <a:t>Simulation allows important aspects of the design to be studied before physical testing. It can help evaluate predicted behavior, identify possible weaknesses, and provide evidence for refining the aircraft.</a:t>
            </a:r>
            <a:endParaRPr sz="181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010" b="1">
                <a:solidFill>
                  <a:srgbClr val="000000"/>
                </a:solidFill>
                <a:latin typeface="Times New Roman"/>
                <a:ea typeface="Times New Roman"/>
                <a:cs typeface="Times New Roman"/>
                <a:sym typeface="Times New Roman"/>
              </a:rPr>
              <a:t>Validation Process</a:t>
            </a:r>
            <a:endParaRPr sz="201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1810" b="1">
                <a:solidFill>
                  <a:srgbClr val="000000"/>
                </a:solidFill>
                <a:latin typeface="Times New Roman"/>
                <a:ea typeface="Times New Roman"/>
                <a:cs typeface="Times New Roman"/>
                <a:sym typeface="Times New Roman"/>
              </a:rPr>
              <a:t>Design → Simulation → Results → Comparison → Refinement</a:t>
            </a:r>
            <a:endParaRPr sz="1810" b="1">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2010" b="1">
                <a:solidFill>
                  <a:srgbClr val="000000"/>
                </a:solidFill>
                <a:latin typeface="Times New Roman"/>
                <a:ea typeface="Times New Roman"/>
                <a:cs typeface="Times New Roman"/>
                <a:sym typeface="Times New Roman"/>
              </a:rPr>
              <a:t>Analysis Areas</a:t>
            </a:r>
            <a:endParaRPr sz="2010" b="1">
              <a:solidFill>
                <a:srgbClr val="000000"/>
              </a:solidFill>
              <a:latin typeface="Times New Roman"/>
              <a:ea typeface="Times New Roman"/>
              <a:cs typeface="Times New Roman"/>
              <a:sym typeface="Times New Roman"/>
            </a:endParaRPr>
          </a:p>
          <a:p>
            <a:pPr marL="457200" lvl="0" indent="-309034" algn="l" rtl="0">
              <a:spcBef>
                <a:spcPts val="1200"/>
              </a:spcBef>
              <a:spcAft>
                <a:spcPts val="0"/>
              </a:spcAft>
              <a:buClr>
                <a:srgbClr val="000000"/>
              </a:buClr>
              <a:buSzPct val="100000"/>
              <a:buFont typeface="Times New Roman"/>
              <a:buChar char="●"/>
            </a:pPr>
            <a:r>
              <a:rPr lang="en" sz="1810">
                <a:solidFill>
                  <a:srgbClr val="000000"/>
                </a:solidFill>
                <a:latin typeface="Times New Roman"/>
                <a:ea typeface="Times New Roman"/>
                <a:cs typeface="Times New Roman"/>
                <a:sym typeface="Times New Roman"/>
              </a:rPr>
              <a:t>Propulsion performance</a:t>
            </a:r>
            <a:endParaRPr sz="1810">
              <a:solidFill>
                <a:srgbClr val="000000"/>
              </a:solidFill>
              <a:latin typeface="Times New Roman"/>
              <a:ea typeface="Times New Roman"/>
              <a:cs typeface="Times New Roman"/>
              <a:sym typeface="Times New Roman"/>
            </a:endParaRPr>
          </a:p>
          <a:p>
            <a:pPr marL="457200" lvl="0" indent="-309034" algn="l" rtl="0">
              <a:spcBef>
                <a:spcPts val="0"/>
              </a:spcBef>
              <a:spcAft>
                <a:spcPts val="0"/>
              </a:spcAft>
              <a:buClr>
                <a:srgbClr val="000000"/>
              </a:buClr>
              <a:buSzPct val="100000"/>
              <a:buFont typeface="Times New Roman"/>
              <a:buChar char="●"/>
            </a:pPr>
            <a:r>
              <a:rPr lang="en" sz="1810">
                <a:solidFill>
                  <a:srgbClr val="000000"/>
                </a:solidFill>
                <a:latin typeface="Times New Roman"/>
                <a:ea typeface="Times New Roman"/>
                <a:cs typeface="Times New Roman"/>
                <a:sym typeface="Times New Roman"/>
              </a:rPr>
              <a:t>Flight behavior</a:t>
            </a:r>
            <a:endParaRPr sz="1810">
              <a:solidFill>
                <a:srgbClr val="000000"/>
              </a:solidFill>
              <a:latin typeface="Times New Roman"/>
              <a:ea typeface="Times New Roman"/>
              <a:cs typeface="Times New Roman"/>
              <a:sym typeface="Times New Roman"/>
            </a:endParaRPr>
          </a:p>
          <a:p>
            <a:pPr marL="457200" lvl="0" indent="-309034" algn="l" rtl="0">
              <a:spcBef>
                <a:spcPts val="0"/>
              </a:spcBef>
              <a:spcAft>
                <a:spcPts val="0"/>
              </a:spcAft>
              <a:buClr>
                <a:srgbClr val="000000"/>
              </a:buClr>
              <a:buSzPct val="100000"/>
              <a:buFont typeface="Times New Roman"/>
              <a:buChar char="●"/>
            </a:pPr>
            <a:r>
              <a:rPr lang="en" sz="1810">
                <a:solidFill>
                  <a:srgbClr val="000000"/>
                </a:solidFill>
                <a:latin typeface="Times New Roman"/>
                <a:ea typeface="Times New Roman"/>
                <a:cs typeface="Times New Roman"/>
                <a:sym typeface="Times New Roman"/>
              </a:rPr>
              <a:t>Structural response</a:t>
            </a:r>
            <a:endParaRPr sz="1810">
              <a:solidFill>
                <a:srgbClr val="000000"/>
              </a:solidFill>
              <a:latin typeface="Times New Roman"/>
              <a:ea typeface="Times New Roman"/>
              <a:cs typeface="Times New Roman"/>
              <a:sym typeface="Times New Roman"/>
            </a:endParaRPr>
          </a:p>
          <a:p>
            <a:pPr marL="457200" lvl="0" indent="-309034" algn="l" rtl="0">
              <a:spcBef>
                <a:spcPts val="0"/>
              </a:spcBef>
              <a:spcAft>
                <a:spcPts val="0"/>
              </a:spcAft>
              <a:buClr>
                <a:srgbClr val="000000"/>
              </a:buClr>
              <a:buSzPct val="100000"/>
              <a:buFont typeface="Times New Roman"/>
              <a:buChar char="●"/>
            </a:pPr>
            <a:r>
              <a:rPr lang="en" sz="1810">
                <a:solidFill>
                  <a:srgbClr val="000000"/>
                </a:solidFill>
                <a:latin typeface="Times New Roman"/>
                <a:ea typeface="Times New Roman"/>
                <a:cs typeface="Times New Roman"/>
                <a:sym typeface="Times New Roman"/>
              </a:rPr>
              <a:t>Power demand</a:t>
            </a:r>
            <a:endParaRPr sz="1810">
              <a:solidFill>
                <a:srgbClr val="000000"/>
              </a:solidFill>
              <a:latin typeface="Times New Roman"/>
              <a:ea typeface="Times New Roman"/>
              <a:cs typeface="Times New Roman"/>
              <a:sym typeface="Times New Roman"/>
            </a:endParaRPr>
          </a:p>
          <a:p>
            <a:pPr marL="457200" lvl="0" indent="-309034" algn="l" rtl="0">
              <a:spcBef>
                <a:spcPts val="0"/>
              </a:spcBef>
              <a:spcAft>
                <a:spcPts val="0"/>
              </a:spcAft>
              <a:buClr>
                <a:srgbClr val="000000"/>
              </a:buClr>
              <a:buSzPct val="100000"/>
              <a:buFont typeface="Times New Roman"/>
              <a:buChar char="●"/>
            </a:pPr>
            <a:r>
              <a:rPr lang="en" sz="1810">
                <a:solidFill>
                  <a:srgbClr val="000000"/>
                </a:solidFill>
                <a:latin typeface="Times New Roman"/>
                <a:ea typeface="Times New Roman"/>
                <a:cs typeface="Times New Roman"/>
                <a:sym typeface="Times New Roman"/>
              </a:rPr>
              <a:t>Mission performance</a:t>
            </a:r>
            <a:endParaRPr sz="1810">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endParaRPr sz="1810"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solidFill>
                <a:srgbClr val="1B212C"/>
              </a:solidFill>
            </a:endParaRPr>
          </a:p>
        </p:txBody>
      </p:sp>
      <p:grpSp>
        <p:nvGrpSpPr>
          <p:cNvPr id="259" name="Google Shape;259;p40"/>
          <p:cNvGrpSpPr/>
          <p:nvPr/>
        </p:nvGrpSpPr>
        <p:grpSpPr>
          <a:xfrm>
            <a:off x="-21" y="380982"/>
            <a:ext cx="1037890" cy="1016318"/>
            <a:chOff x="-21" y="380982"/>
            <a:chExt cx="1037890" cy="1016318"/>
          </a:xfrm>
        </p:grpSpPr>
        <p:sp>
          <p:nvSpPr>
            <p:cNvPr id="260" name="Google Shape;260;p40"/>
            <p:cNvSpPr/>
            <p:nvPr/>
          </p:nvSpPr>
          <p:spPr>
            <a:xfrm rot="-5400000">
              <a:off x="-21" y="380982"/>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61" name="Google Shape;261;p40"/>
            <p:cNvSpPr/>
            <p:nvPr/>
          </p:nvSpPr>
          <p:spPr>
            <a:xfrm flipH="1">
              <a:off x="229069"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5"/>
        <p:cNvGrpSpPr/>
        <p:nvPr/>
      </p:nvGrpSpPr>
      <p:grpSpPr>
        <a:xfrm>
          <a:off x="0" y="0"/>
          <a:ext cx="0" cy="0"/>
          <a:chOff x="0" y="0"/>
          <a:chExt cx="0" cy="0"/>
        </a:xfrm>
      </p:grpSpPr>
      <p:sp>
        <p:nvSpPr>
          <p:cNvPr id="266" name="Google Shape;266;p41"/>
          <p:cNvSpPr txBox="1">
            <a:spLocks noGrp="1"/>
          </p:cNvSpPr>
          <p:nvPr>
            <p:ph type="title"/>
          </p:nvPr>
        </p:nvSpPr>
        <p:spPr>
          <a:xfrm>
            <a:off x="1380025" y="320425"/>
            <a:ext cx="7038900" cy="591000"/>
          </a:xfrm>
          <a:prstGeom prst="rect">
            <a:avLst/>
          </a:prstGeom>
          <a:solidFill>
            <a:schemeClr val="dk2"/>
          </a:solidFill>
          <a:ln>
            <a:noFill/>
          </a:ln>
        </p:spPr>
        <p:txBody>
          <a:bodyPr spcFirstLastPara="1" wrap="square" lIns="91400" tIns="91400" rIns="91400" bIns="91400" anchor="t" anchorCtr="0">
            <a:normAutofit fontScale="90000"/>
          </a:bodyPr>
          <a:lstStyle/>
          <a:p>
            <a:pPr marL="0" lvl="0" indent="0" algn="l" rtl="0">
              <a:lnSpc>
                <a:spcPct val="115000"/>
              </a:lnSpc>
              <a:spcBef>
                <a:spcPts val="1800"/>
              </a:spcBef>
              <a:spcAft>
                <a:spcPts val="400"/>
              </a:spcAft>
              <a:buNone/>
            </a:pPr>
            <a:r>
              <a:rPr lang="en" sz="2600" b="1">
                <a:solidFill>
                  <a:srgbClr val="000000"/>
                </a:solidFill>
                <a:latin typeface="Times New Roman"/>
                <a:ea typeface="Times New Roman"/>
                <a:cs typeface="Times New Roman"/>
                <a:sym typeface="Times New Roman"/>
              </a:rPr>
              <a:t>Results</a:t>
            </a:r>
            <a:r>
              <a:rPr lang="en" sz="1700" b="1">
                <a:solidFill>
                  <a:srgbClr val="000000"/>
                </a:solidFill>
                <a:latin typeface="Arial"/>
                <a:ea typeface="Arial"/>
                <a:cs typeface="Arial"/>
                <a:sym typeface="Arial"/>
              </a:rPr>
              <a:t> </a:t>
            </a:r>
            <a:endParaRPr sz="1400" b="0" i="0">
              <a:solidFill>
                <a:srgbClr val="1B212C"/>
              </a:solidFill>
              <a:latin typeface="Arial"/>
              <a:ea typeface="Arial"/>
              <a:cs typeface="Arial"/>
              <a:sym typeface="Arial"/>
            </a:endParaRPr>
          </a:p>
        </p:txBody>
      </p:sp>
      <p:sp>
        <p:nvSpPr>
          <p:cNvPr id="267" name="Google Shape;267;p41"/>
          <p:cNvSpPr txBox="1">
            <a:spLocks noGrp="1"/>
          </p:cNvSpPr>
          <p:nvPr>
            <p:ph type="body" idx="1"/>
          </p:nvPr>
        </p:nvSpPr>
        <p:spPr>
          <a:xfrm>
            <a:off x="1297500" y="1232250"/>
            <a:ext cx="7038900" cy="3911400"/>
          </a:xfrm>
          <a:prstGeom prst="rect">
            <a:avLst/>
          </a:prstGeom>
          <a:solidFill>
            <a:srgbClr val="000000">
              <a:alpha val="0"/>
            </a:srgbClr>
          </a:solidFill>
          <a:ln>
            <a:noFill/>
          </a:ln>
        </p:spPr>
        <p:txBody>
          <a:bodyPr spcFirstLastPara="1" wrap="square" lIns="91400" tIns="91400" rIns="91400" bIns="91400" anchor="t" anchorCtr="0">
            <a:normAutofit fontScale="25000" lnSpcReduction="20000"/>
          </a:bodyPr>
          <a:lstStyle/>
          <a:p>
            <a:pPr marL="0" lvl="0" indent="0" algn="l" rtl="0">
              <a:spcBef>
                <a:spcPts val="1400"/>
              </a:spcBef>
              <a:spcAft>
                <a:spcPts val="0"/>
              </a:spcAft>
              <a:buNone/>
            </a:pPr>
            <a:r>
              <a:rPr lang="en" sz="5210" b="1">
                <a:solidFill>
                  <a:srgbClr val="000000"/>
                </a:solidFill>
                <a:latin typeface="Times New Roman"/>
                <a:ea typeface="Times New Roman"/>
                <a:cs typeface="Times New Roman"/>
                <a:sym typeface="Times New Roman"/>
              </a:rPr>
              <a:t>What Does the Design Achieve?</a:t>
            </a:r>
            <a:endParaRPr sz="521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5010">
                <a:solidFill>
                  <a:srgbClr val="000000"/>
                </a:solidFill>
                <a:latin typeface="Times New Roman"/>
                <a:ea typeface="Times New Roman"/>
                <a:cs typeface="Times New Roman"/>
                <a:sym typeface="Times New Roman"/>
              </a:rPr>
              <a:t>The completed design brings the major engineering decisions together around the original agricultural mission. The preliminary analysis supports the feasibility of the proposed configuration while also showing where further physical validation is required.</a:t>
            </a:r>
            <a:endParaRPr sz="501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5210" b="1">
                <a:solidFill>
                  <a:srgbClr val="000000"/>
                </a:solidFill>
                <a:latin typeface="Times New Roman"/>
                <a:ea typeface="Times New Roman"/>
                <a:cs typeface="Times New Roman"/>
                <a:sym typeface="Times New Roman"/>
              </a:rPr>
              <a:t>Key Outcomes</a:t>
            </a:r>
            <a:endParaRPr sz="5210" b="1">
              <a:solidFill>
                <a:srgbClr val="000000"/>
              </a:solidFill>
              <a:latin typeface="Times New Roman"/>
              <a:ea typeface="Times New Roman"/>
              <a:cs typeface="Times New Roman"/>
              <a:sym typeface="Times New Roman"/>
            </a:endParaRPr>
          </a:p>
          <a:p>
            <a:pPr marL="457200" lvl="0" indent="-308136" algn="l" rtl="0">
              <a:spcBef>
                <a:spcPts val="1200"/>
              </a:spcBef>
              <a:spcAft>
                <a:spcPts val="0"/>
              </a:spcAft>
              <a:buClr>
                <a:srgbClr val="000000"/>
              </a:buClr>
              <a:buSzPct val="100000"/>
              <a:buFont typeface="Arial"/>
              <a:buChar char="●"/>
            </a:pPr>
            <a:r>
              <a:rPr lang="en" sz="5010" b="1">
                <a:solidFill>
                  <a:srgbClr val="000000"/>
                </a:solidFill>
                <a:latin typeface="Times New Roman"/>
                <a:ea typeface="Times New Roman"/>
                <a:cs typeface="Times New Roman"/>
                <a:sym typeface="Times New Roman"/>
              </a:rPr>
              <a:t>~80 kg</a:t>
            </a:r>
            <a:r>
              <a:rPr lang="en" sz="5010">
                <a:solidFill>
                  <a:srgbClr val="000000"/>
                </a:solidFill>
                <a:latin typeface="Times New Roman"/>
                <a:ea typeface="Times New Roman"/>
                <a:cs typeface="Times New Roman"/>
                <a:sym typeface="Times New Roman"/>
              </a:rPr>
              <a:t> heavy-lift configuration established</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Arial"/>
              <a:buChar char="●"/>
            </a:pPr>
            <a:r>
              <a:rPr lang="en" sz="5010" b="1">
                <a:solidFill>
                  <a:srgbClr val="000000"/>
                </a:solidFill>
                <a:latin typeface="Times New Roman"/>
                <a:ea typeface="Times New Roman"/>
                <a:cs typeface="Times New Roman"/>
                <a:sym typeface="Times New Roman"/>
              </a:rPr>
              <a:t>20 L</a:t>
            </a:r>
            <a:r>
              <a:rPr lang="en" sz="5010">
                <a:solidFill>
                  <a:srgbClr val="000000"/>
                </a:solidFill>
                <a:latin typeface="Times New Roman"/>
                <a:ea typeface="Times New Roman"/>
                <a:cs typeface="Times New Roman"/>
                <a:sym typeface="Times New Roman"/>
              </a:rPr>
              <a:t> spray payload integrated</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Arial"/>
              <a:buChar char="●"/>
            </a:pPr>
            <a:r>
              <a:rPr lang="en" sz="5010" b="1">
                <a:solidFill>
                  <a:srgbClr val="000000"/>
                </a:solidFill>
                <a:latin typeface="Times New Roman"/>
                <a:ea typeface="Times New Roman"/>
                <a:cs typeface="Times New Roman"/>
                <a:sym typeface="Times New Roman"/>
              </a:rPr>
              <a:t>5–7 m/s</a:t>
            </a:r>
            <a:r>
              <a:rPr lang="en" sz="5010">
                <a:solidFill>
                  <a:srgbClr val="000000"/>
                </a:solidFill>
                <a:latin typeface="Times New Roman"/>
                <a:ea typeface="Times New Roman"/>
                <a:cs typeface="Times New Roman"/>
                <a:sym typeface="Times New Roman"/>
              </a:rPr>
              <a:t> operating range defined</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Arial"/>
              <a:buChar char="●"/>
            </a:pPr>
            <a:r>
              <a:rPr lang="en" sz="5010" b="1">
                <a:solidFill>
                  <a:srgbClr val="000000"/>
                </a:solidFill>
                <a:latin typeface="Times New Roman"/>
                <a:ea typeface="Times New Roman"/>
                <a:cs typeface="Times New Roman"/>
                <a:sym typeface="Times New Roman"/>
              </a:rPr>
              <a:t>~5.5–6 m</a:t>
            </a:r>
            <a:r>
              <a:rPr lang="en" sz="5010">
                <a:solidFill>
                  <a:srgbClr val="000000"/>
                </a:solidFill>
                <a:latin typeface="Times New Roman"/>
                <a:ea typeface="Times New Roman"/>
                <a:cs typeface="Times New Roman"/>
                <a:sym typeface="Times New Roman"/>
              </a:rPr>
              <a:t> spray width targeted</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Arial"/>
              <a:buChar char="●"/>
            </a:pPr>
            <a:r>
              <a:rPr lang="en" sz="5010" b="1">
                <a:solidFill>
                  <a:srgbClr val="000000"/>
                </a:solidFill>
                <a:latin typeface="Times New Roman"/>
                <a:ea typeface="Times New Roman"/>
                <a:cs typeface="Times New Roman"/>
                <a:sym typeface="Times New Roman"/>
              </a:rPr>
              <a:t>Dual-LiPo (~8 kg)</a:t>
            </a:r>
            <a:r>
              <a:rPr lang="en" sz="5010">
                <a:solidFill>
                  <a:srgbClr val="000000"/>
                </a:solidFill>
                <a:latin typeface="Times New Roman"/>
                <a:ea typeface="Times New Roman"/>
                <a:cs typeface="Times New Roman"/>
                <a:sym typeface="Times New Roman"/>
              </a:rPr>
              <a:t> power system incorporated</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Times New Roman"/>
              <a:buChar char="●"/>
            </a:pPr>
            <a:r>
              <a:rPr lang="en" sz="5010">
                <a:solidFill>
                  <a:srgbClr val="000000"/>
                </a:solidFill>
                <a:latin typeface="Times New Roman"/>
                <a:ea typeface="Times New Roman"/>
                <a:cs typeface="Times New Roman"/>
                <a:sym typeface="Times New Roman"/>
              </a:rPr>
              <a:t>RTK-GPS autonomous navigation integrated</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Times New Roman"/>
              <a:buChar char="●"/>
            </a:pPr>
            <a:r>
              <a:rPr lang="en" sz="5010">
                <a:solidFill>
                  <a:srgbClr val="000000"/>
                </a:solidFill>
                <a:latin typeface="Times New Roman"/>
                <a:ea typeface="Times New Roman"/>
                <a:cs typeface="Times New Roman"/>
                <a:sym typeface="Times New Roman"/>
              </a:rPr>
              <a:t>Propulsion sized around the full aircraft mass</a:t>
            </a:r>
            <a:endParaRPr sz="5010">
              <a:solidFill>
                <a:srgbClr val="000000"/>
              </a:solidFill>
              <a:latin typeface="Times New Roman"/>
              <a:ea typeface="Times New Roman"/>
              <a:cs typeface="Times New Roman"/>
              <a:sym typeface="Times New Roman"/>
            </a:endParaRPr>
          </a:p>
          <a:p>
            <a:pPr marL="457200" lvl="0" indent="-308136" algn="l" rtl="0">
              <a:spcBef>
                <a:spcPts val="0"/>
              </a:spcBef>
              <a:spcAft>
                <a:spcPts val="0"/>
              </a:spcAft>
              <a:buClr>
                <a:srgbClr val="000000"/>
              </a:buClr>
              <a:buSzPct val="100000"/>
              <a:buFont typeface="Times New Roman"/>
              <a:buChar char="●"/>
            </a:pPr>
            <a:r>
              <a:rPr lang="en" sz="5010">
                <a:solidFill>
                  <a:srgbClr val="000000"/>
                </a:solidFill>
                <a:latin typeface="Times New Roman"/>
                <a:ea typeface="Times New Roman"/>
                <a:cs typeface="Times New Roman"/>
                <a:sym typeface="Times New Roman"/>
              </a:rPr>
              <a:t>Safety and monitoring functions included</a:t>
            </a:r>
            <a:endParaRPr sz="5010">
              <a:solidFill>
                <a:srgbClr val="000000"/>
              </a:solidFill>
              <a:latin typeface="Times New Roman"/>
              <a:ea typeface="Times New Roman"/>
              <a:cs typeface="Times New Roman"/>
              <a:sym typeface="Times New Roman"/>
            </a:endParaRPr>
          </a:p>
          <a:p>
            <a:pPr marL="0" lvl="0" indent="0" algn="l" rtl="0">
              <a:spcBef>
                <a:spcPts val="1400"/>
              </a:spcBef>
              <a:spcAft>
                <a:spcPts val="0"/>
              </a:spcAft>
              <a:buNone/>
            </a:pPr>
            <a:r>
              <a:rPr lang="en" sz="5210" b="1">
                <a:solidFill>
                  <a:srgbClr val="000000"/>
                </a:solidFill>
                <a:latin typeface="Times New Roman"/>
                <a:ea typeface="Times New Roman"/>
                <a:cs typeface="Times New Roman"/>
                <a:sym typeface="Times New Roman"/>
              </a:rPr>
              <a:t>Current Limitation</a:t>
            </a:r>
            <a:endParaRPr sz="5210" b="1">
              <a:solidFill>
                <a:srgbClr val="000000"/>
              </a:solidFill>
              <a:latin typeface="Times New Roman"/>
              <a:ea typeface="Times New Roman"/>
              <a:cs typeface="Times New Roman"/>
              <a:sym typeface="Times New Roman"/>
            </a:endParaRPr>
          </a:p>
          <a:p>
            <a:pPr marL="0" lvl="0" indent="0" algn="l" rtl="0">
              <a:spcBef>
                <a:spcPts val="1200"/>
              </a:spcBef>
              <a:spcAft>
                <a:spcPts val="0"/>
              </a:spcAft>
              <a:buNone/>
            </a:pPr>
            <a:r>
              <a:rPr lang="en" sz="5010">
                <a:solidFill>
                  <a:srgbClr val="000000"/>
                </a:solidFill>
                <a:latin typeface="Times New Roman"/>
                <a:ea typeface="Times New Roman"/>
                <a:cs typeface="Times New Roman"/>
                <a:sym typeface="Times New Roman"/>
              </a:rPr>
              <a:t>The design remains conceptual and requires detailed CAD, advanced simulation, prototype construction, and flight testing before real agricultural deployme</a:t>
            </a:r>
            <a:r>
              <a:rPr lang="en" sz="1874">
                <a:solidFill>
                  <a:srgbClr val="000000"/>
                </a:solidFill>
                <a:latin typeface="Arial"/>
                <a:ea typeface="Arial"/>
                <a:cs typeface="Arial"/>
                <a:sym typeface="Arial"/>
              </a:rPr>
              <a:t>n</a:t>
            </a:r>
            <a:r>
              <a:rPr lang="en" sz="1100">
                <a:solidFill>
                  <a:srgbClr val="000000"/>
                </a:solidFill>
                <a:latin typeface="Arial"/>
                <a:ea typeface="Arial"/>
                <a:cs typeface="Arial"/>
                <a:sym typeface="Arial"/>
              </a:rPr>
              <a:t>t.</a:t>
            </a:r>
            <a:endParaRPr sz="1100">
              <a:solidFill>
                <a:srgbClr val="000000"/>
              </a:solidFill>
              <a:latin typeface="Arial"/>
              <a:ea typeface="Arial"/>
              <a:cs typeface="Arial"/>
              <a:sym typeface="Arial"/>
            </a:endParaRPr>
          </a:p>
          <a:p>
            <a:pPr marL="0" lvl="0" indent="0" algn="l" rtl="0">
              <a:spcBef>
                <a:spcPts val="1200"/>
              </a:spcBef>
              <a:spcAft>
                <a:spcPts val="0"/>
              </a:spcAft>
              <a:buNone/>
            </a:pPr>
            <a:endParaRPr b="1">
              <a:solidFill>
                <a:srgbClr val="000000"/>
              </a:solidFill>
              <a:latin typeface="Times New Roman"/>
              <a:ea typeface="Times New Roman"/>
              <a:cs typeface="Times New Roman"/>
              <a:sym typeface="Times New Roman"/>
            </a:endParaRPr>
          </a:p>
          <a:p>
            <a:pPr marL="0" lvl="0" indent="0" algn="l" rtl="0">
              <a:spcBef>
                <a:spcPts val="1200"/>
              </a:spcBef>
              <a:spcAft>
                <a:spcPts val="1200"/>
              </a:spcAft>
              <a:buNone/>
            </a:pPr>
            <a:endParaRPr>
              <a:solidFill>
                <a:srgbClr val="1B212C"/>
              </a:solidFill>
            </a:endParaRPr>
          </a:p>
        </p:txBody>
      </p:sp>
      <p:grpSp>
        <p:nvGrpSpPr>
          <p:cNvPr id="268" name="Google Shape;268;p41"/>
          <p:cNvGrpSpPr/>
          <p:nvPr/>
        </p:nvGrpSpPr>
        <p:grpSpPr>
          <a:xfrm>
            <a:off x="-21" y="380982"/>
            <a:ext cx="1037890" cy="1016318"/>
            <a:chOff x="-21" y="380982"/>
            <a:chExt cx="1037890" cy="1016318"/>
          </a:xfrm>
        </p:grpSpPr>
        <p:sp>
          <p:nvSpPr>
            <p:cNvPr id="269" name="Google Shape;269;p41"/>
            <p:cNvSpPr/>
            <p:nvPr/>
          </p:nvSpPr>
          <p:spPr>
            <a:xfrm rot="-5400000">
              <a:off x="-21" y="380982"/>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0" name="Google Shape;270;p41"/>
            <p:cNvSpPr/>
            <p:nvPr/>
          </p:nvSpPr>
          <p:spPr>
            <a:xfrm flipH="1">
              <a:off x="229069"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1297500" y="393750"/>
            <a:ext cx="7038900" cy="480900"/>
          </a:xfrm>
          <a:prstGeom prst="rect">
            <a:avLst/>
          </a:prstGeom>
          <a:solidFill>
            <a:schemeClr val="dk2"/>
          </a:solidFill>
          <a:ln>
            <a:noFill/>
          </a:ln>
        </p:spPr>
        <p:txBody>
          <a:bodyPr spcFirstLastPara="1" wrap="square" lIns="91400" tIns="91400" rIns="91400" bIns="91400" anchor="t" anchorCtr="0">
            <a:normAutofit fontScale="90000"/>
          </a:bodyPr>
          <a:lstStyle/>
          <a:p>
            <a:pPr marL="0" lvl="0" indent="0" algn="l" rtl="0">
              <a:lnSpc>
                <a:spcPct val="115000"/>
              </a:lnSpc>
              <a:spcBef>
                <a:spcPts val="1800"/>
              </a:spcBef>
              <a:spcAft>
                <a:spcPts val="400"/>
              </a:spcAft>
              <a:buNone/>
            </a:pPr>
            <a:r>
              <a:rPr lang="en" sz="1700" b="1">
                <a:solidFill>
                  <a:srgbClr val="000000"/>
                </a:solidFill>
                <a:latin typeface="Times New Roman"/>
                <a:ea typeface="Times New Roman"/>
                <a:cs typeface="Times New Roman"/>
                <a:sym typeface="Times New Roman"/>
              </a:rPr>
              <a:t>Conclusion</a:t>
            </a:r>
            <a:endParaRPr sz="1400" i="0">
              <a:solidFill>
                <a:srgbClr val="1B212C"/>
              </a:solidFill>
              <a:latin typeface="Times New Roman"/>
              <a:ea typeface="Times New Roman"/>
              <a:cs typeface="Times New Roman"/>
              <a:sym typeface="Times New Roman"/>
            </a:endParaRPr>
          </a:p>
        </p:txBody>
      </p:sp>
      <p:sp>
        <p:nvSpPr>
          <p:cNvPr id="276" name="Google Shape;276;p42"/>
          <p:cNvSpPr txBox="1">
            <a:spLocks noGrp="1"/>
          </p:cNvSpPr>
          <p:nvPr>
            <p:ph type="body" idx="1"/>
          </p:nvPr>
        </p:nvSpPr>
        <p:spPr>
          <a:xfrm>
            <a:off x="1111225" y="938850"/>
            <a:ext cx="7225200" cy="3887400"/>
          </a:xfrm>
          <a:prstGeom prst="rect">
            <a:avLst/>
          </a:prstGeom>
          <a:solidFill>
            <a:srgbClr val="000000">
              <a:alpha val="0"/>
            </a:srgbClr>
          </a:solidFill>
          <a:ln>
            <a:noFill/>
          </a:ln>
        </p:spPr>
        <p:txBody>
          <a:bodyPr spcFirstLastPara="1" wrap="square" lIns="91400" tIns="91400" rIns="91400" bIns="91400" anchor="t" anchorCtr="0">
            <a:noAutofit/>
          </a:bodyPr>
          <a:lstStyle/>
          <a:p>
            <a:pPr marL="0" lvl="0" indent="0" algn="l" rtl="0">
              <a:lnSpc>
                <a:spcPct val="105000"/>
              </a:lnSpc>
              <a:spcBef>
                <a:spcPts val="1400"/>
              </a:spcBef>
              <a:spcAft>
                <a:spcPts val="0"/>
              </a:spcAft>
              <a:buNone/>
            </a:pPr>
            <a:r>
              <a:rPr lang="en" sz="1400" b="1">
                <a:solidFill>
                  <a:srgbClr val="000000"/>
                </a:solidFill>
                <a:latin typeface="Times New Roman"/>
                <a:ea typeface="Times New Roman"/>
                <a:cs typeface="Times New Roman"/>
                <a:sym typeface="Times New Roman"/>
              </a:rPr>
              <a:t>An Integrated Autonomous Spraying Platform</a:t>
            </a:r>
            <a:endParaRPr sz="1400" b="1">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0"/>
              </a:spcAft>
              <a:buNone/>
            </a:pPr>
            <a:r>
              <a:rPr lang="en" sz="1200">
                <a:solidFill>
                  <a:srgbClr val="000000"/>
                </a:solidFill>
                <a:latin typeface="Times New Roman"/>
                <a:ea typeface="Times New Roman"/>
                <a:cs typeface="Times New Roman"/>
                <a:sym typeface="Times New Roman"/>
              </a:rPr>
              <a:t>This project developed a conceptual </a:t>
            </a:r>
            <a:r>
              <a:rPr lang="en" sz="1200" b="1">
                <a:solidFill>
                  <a:srgbClr val="000000"/>
                </a:solidFill>
                <a:latin typeface="Times New Roman"/>
                <a:ea typeface="Times New Roman"/>
                <a:cs typeface="Times New Roman"/>
                <a:sym typeface="Times New Roman"/>
              </a:rPr>
              <a:t>~80 kg autonomous agricultural spraying UAV</a:t>
            </a:r>
            <a:r>
              <a:rPr lang="en" sz="1200">
                <a:solidFill>
                  <a:srgbClr val="000000"/>
                </a:solidFill>
                <a:latin typeface="Times New Roman"/>
                <a:ea typeface="Times New Roman"/>
                <a:cs typeface="Times New Roman"/>
                <a:sym typeface="Times New Roman"/>
              </a:rPr>
              <a:t> by integrating the airframe, propulsion, power, avionics, navigation, spraying, and safety systems.</a:t>
            </a:r>
            <a:endParaRPr sz="1200">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0"/>
              </a:spcAft>
              <a:buNone/>
            </a:pPr>
            <a:r>
              <a:rPr lang="en" sz="1200">
                <a:solidFill>
                  <a:srgbClr val="000000"/>
                </a:solidFill>
                <a:latin typeface="Times New Roman"/>
                <a:ea typeface="Times New Roman"/>
                <a:cs typeface="Times New Roman"/>
                <a:sym typeface="Times New Roman"/>
              </a:rPr>
              <a:t>The key achievement is not simply the individual components, but their integration into one system designed around a real agricultural mission.</a:t>
            </a:r>
            <a:endParaRPr sz="1200">
              <a:solidFill>
                <a:srgbClr val="000000"/>
              </a:solidFill>
              <a:latin typeface="Times New Roman"/>
              <a:ea typeface="Times New Roman"/>
              <a:cs typeface="Times New Roman"/>
              <a:sym typeface="Times New Roman"/>
            </a:endParaRPr>
          </a:p>
          <a:p>
            <a:pPr marL="0" lvl="0" indent="0" algn="l" rtl="0">
              <a:lnSpc>
                <a:spcPct val="105000"/>
              </a:lnSpc>
              <a:spcBef>
                <a:spcPts val="1400"/>
              </a:spcBef>
              <a:spcAft>
                <a:spcPts val="0"/>
              </a:spcAft>
              <a:buNone/>
            </a:pPr>
            <a:r>
              <a:rPr lang="en" sz="1400" b="1">
                <a:solidFill>
                  <a:srgbClr val="000000"/>
                </a:solidFill>
                <a:latin typeface="Times New Roman"/>
                <a:ea typeface="Times New Roman"/>
                <a:cs typeface="Times New Roman"/>
                <a:sym typeface="Times New Roman"/>
              </a:rPr>
              <a:t>Final Mission</a:t>
            </a:r>
            <a:endParaRPr sz="1400" b="1">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0"/>
              </a:spcAft>
              <a:buNone/>
            </a:pPr>
            <a:r>
              <a:rPr lang="en" sz="1200" b="1">
                <a:solidFill>
                  <a:srgbClr val="000000"/>
                </a:solidFill>
                <a:latin typeface="Times New Roman"/>
                <a:ea typeface="Times New Roman"/>
                <a:cs typeface="Times New Roman"/>
                <a:sym typeface="Times New Roman"/>
              </a:rPr>
              <a:t>Carry Payload → Navigate Precisely → Spray Consistently → Monitor → Return Safely</a:t>
            </a:r>
            <a:endParaRPr sz="1200" b="1">
              <a:solidFill>
                <a:srgbClr val="000000"/>
              </a:solidFill>
              <a:latin typeface="Times New Roman"/>
              <a:ea typeface="Times New Roman"/>
              <a:cs typeface="Times New Roman"/>
              <a:sym typeface="Times New Roman"/>
            </a:endParaRPr>
          </a:p>
          <a:p>
            <a:pPr marL="0" lvl="0" indent="0" algn="l" rtl="0">
              <a:lnSpc>
                <a:spcPct val="105000"/>
              </a:lnSpc>
              <a:spcBef>
                <a:spcPts val="1400"/>
              </a:spcBef>
              <a:spcAft>
                <a:spcPts val="0"/>
              </a:spcAft>
              <a:buNone/>
            </a:pPr>
            <a:r>
              <a:rPr lang="en" sz="1400" b="1">
                <a:solidFill>
                  <a:srgbClr val="000000"/>
                </a:solidFill>
                <a:latin typeface="Times New Roman"/>
                <a:ea typeface="Times New Roman"/>
                <a:cs typeface="Times New Roman"/>
                <a:sym typeface="Times New Roman"/>
              </a:rPr>
              <a:t>Next Development</a:t>
            </a:r>
            <a:endParaRPr sz="1400" b="1">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0"/>
              </a:spcAft>
              <a:buNone/>
            </a:pPr>
            <a:r>
              <a:rPr lang="en" sz="1200" b="1">
                <a:solidFill>
                  <a:srgbClr val="000000"/>
                </a:solidFill>
                <a:latin typeface="Times New Roman"/>
                <a:ea typeface="Times New Roman"/>
                <a:cs typeface="Times New Roman"/>
                <a:sym typeface="Times New Roman"/>
              </a:rPr>
              <a:t>Detailed CAD → Simulation → Prototype → Ground Testing → Flight Testing</a:t>
            </a:r>
            <a:endParaRPr sz="1200" b="1">
              <a:solidFill>
                <a:srgbClr val="000000"/>
              </a:solidFill>
              <a:latin typeface="Times New Roman"/>
              <a:ea typeface="Times New Roman"/>
              <a:cs typeface="Times New Roman"/>
              <a:sym typeface="Times New Roman"/>
            </a:endParaRPr>
          </a:p>
          <a:p>
            <a:pPr marL="381000" marR="381000" lvl="0" indent="0" algn="l" rtl="0">
              <a:lnSpc>
                <a:spcPct val="105000"/>
              </a:lnSpc>
              <a:spcBef>
                <a:spcPts val="1200"/>
              </a:spcBef>
              <a:spcAft>
                <a:spcPts val="0"/>
              </a:spcAft>
              <a:buNone/>
            </a:pPr>
            <a:r>
              <a:rPr lang="en" sz="1200">
                <a:solidFill>
                  <a:srgbClr val="000000"/>
                </a:solidFill>
                <a:latin typeface="Times New Roman"/>
                <a:ea typeface="Times New Roman"/>
                <a:cs typeface="Times New Roman"/>
                <a:sym typeface="Times New Roman"/>
              </a:rPr>
              <a:t>A complete UAV concept designed around precision, efficiency, and safe autonomous operation.</a:t>
            </a:r>
            <a:endParaRPr sz="1200">
              <a:solidFill>
                <a:srgbClr val="000000"/>
              </a:solidFill>
              <a:latin typeface="Times New Roman"/>
              <a:ea typeface="Times New Roman"/>
              <a:cs typeface="Times New Roman"/>
              <a:sym typeface="Times New Roman"/>
            </a:endParaRPr>
          </a:p>
          <a:p>
            <a:pPr marL="0" lvl="0" indent="0" algn="l" rtl="0">
              <a:lnSpc>
                <a:spcPct val="105000"/>
              </a:lnSpc>
              <a:spcBef>
                <a:spcPts val="1200"/>
              </a:spcBef>
              <a:spcAft>
                <a:spcPts val="1200"/>
              </a:spcAft>
              <a:buNone/>
            </a:pPr>
            <a:endParaRPr sz="1400">
              <a:solidFill>
                <a:srgbClr val="1B212C"/>
              </a:solidFill>
              <a:latin typeface="Times New Roman"/>
              <a:ea typeface="Times New Roman"/>
              <a:cs typeface="Times New Roman"/>
              <a:sym typeface="Times New Roman"/>
            </a:endParaRPr>
          </a:p>
        </p:txBody>
      </p:sp>
      <p:grpSp>
        <p:nvGrpSpPr>
          <p:cNvPr id="277" name="Google Shape;277;p42"/>
          <p:cNvGrpSpPr/>
          <p:nvPr/>
        </p:nvGrpSpPr>
        <p:grpSpPr>
          <a:xfrm>
            <a:off x="-21" y="380982"/>
            <a:ext cx="1037890" cy="1016318"/>
            <a:chOff x="-21" y="380982"/>
            <a:chExt cx="1037890" cy="1016318"/>
          </a:xfrm>
        </p:grpSpPr>
        <p:sp>
          <p:nvSpPr>
            <p:cNvPr id="278" name="Google Shape;278;p42"/>
            <p:cNvSpPr/>
            <p:nvPr/>
          </p:nvSpPr>
          <p:spPr>
            <a:xfrm rot="-5400000">
              <a:off x="-21" y="380982"/>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9" name="Google Shape;279;p42"/>
            <p:cNvSpPr/>
            <p:nvPr/>
          </p:nvSpPr>
          <p:spPr>
            <a:xfrm flipH="1">
              <a:off x="229069"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3"/>
        <p:cNvGrpSpPr/>
        <p:nvPr/>
      </p:nvGrpSpPr>
      <p:grpSpPr>
        <a:xfrm>
          <a:off x="0" y="0"/>
          <a:ext cx="0" cy="0"/>
          <a:chOff x="0" y="0"/>
          <a:chExt cx="0" cy="0"/>
        </a:xfrm>
      </p:grpSpPr>
      <p:grpSp>
        <p:nvGrpSpPr>
          <p:cNvPr id="284" name="Google Shape;284;p43"/>
          <p:cNvGrpSpPr/>
          <p:nvPr/>
        </p:nvGrpSpPr>
        <p:grpSpPr>
          <a:xfrm>
            <a:off x="-29" y="380990"/>
            <a:ext cx="1037895" cy="1016310"/>
            <a:chOff x="-29" y="380990"/>
            <a:chExt cx="1037895" cy="1016310"/>
          </a:xfrm>
        </p:grpSpPr>
        <p:sp>
          <p:nvSpPr>
            <p:cNvPr id="285" name="Google Shape;285;p43"/>
            <p:cNvSpPr/>
            <p:nvPr/>
          </p:nvSpPr>
          <p:spPr>
            <a:xfrm rot="-5400000">
              <a:off x="-29" y="38099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2E6F40"/>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6" name="Google Shape;286;p43"/>
            <p:cNvSpPr/>
            <p:nvPr/>
          </p:nvSpPr>
          <p:spPr>
            <a:xfrm flipH="1">
              <a:off x="229066" y="588500"/>
              <a:ext cx="808800" cy="808800"/>
            </a:xfrm>
            <a:custGeom>
              <a:avLst/>
              <a:gdLst/>
              <a:ahLst/>
              <a:cxnLst/>
              <a:rect l="l" t="t" r="r" b="b"/>
              <a:pathLst>
                <a:path w="120000" h="120000" extrusionOk="0">
                  <a:moveTo>
                    <a:pt x="0" y="60000"/>
                  </a:moveTo>
                  <a:lnTo>
                    <a:pt x="60000" y="0"/>
                  </a:lnTo>
                  <a:lnTo>
                    <a:pt x="120000" y="0"/>
                  </a:lnTo>
                  <a:lnTo>
                    <a:pt x="0" y="120000"/>
                  </a:lnTo>
                  <a:close/>
                </a:path>
              </a:pathLst>
            </a:custGeom>
            <a:solidFill>
              <a:srgbClr val="7BC09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287" name="Google Shape;287;p43"/>
          <p:cNvSpPr txBox="1"/>
          <p:nvPr/>
        </p:nvSpPr>
        <p:spPr>
          <a:xfrm>
            <a:off x="762000" y="1428750"/>
            <a:ext cx="7620000" cy="2286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 sz="6400" b="1" i="1">
                <a:solidFill>
                  <a:schemeClr val="dk1"/>
                </a:solidFill>
                <a:latin typeface="Times New Roman"/>
                <a:ea typeface="Times New Roman"/>
                <a:cs typeface="Times New Roman"/>
                <a:sym typeface="Times New Roman"/>
              </a:rPr>
              <a:t>Thank You!</a:t>
            </a:r>
            <a:endParaRPr sz="6400" b="1" i="1">
              <a:solidFill>
                <a:schemeClr val="dk1"/>
              </a:solidFill>
              <a:latin typeface="Times New Roman"/>
              <a:ea typeface="Times New Roman"/>
              <a:cs typeface="Times New Roman"/>
              <a:sym typeface="Times New Roman"/>
            </a:endParaRPr>
          </a:p>
          <a:p>
            <a:pPr marL="0" lvl="0" indent="0" algn="l" rtl="0">
              <a:spcBef>
                <a:spcPts val="1125"/>
              </a:spcBef>
              <a:spcAft>
                <a:spcPts val="0"/>
              </a:spcAft>
              <a:buNone/>
            </a:pPr>
            <a:endParaRPr sz="1800" b="0" i="0">
              <a:solidFill>
                <a:srgbClr val="595959"/>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7438BC45-32D0-3AE3-7FA3-99C7BED66C1C}"/>
              </a:ext>
            </a:extLst>
          </p:cNvPr>
          <p:cNvSpPr txBox="1"/>
          <p:nvPr/>
        </p:nvSpPr>
        <p:spPr>
          <a:xfrm>
            <a:off x="3472665" y="534256"/>
            <a:ext cx="4202130" cy="338554"/>
          </a:xfrm>
          <a:prstGeom prst="rect">
            <a:avLst/>
          </a:prstGeom>
          <a:noFill/>
        </p:spPr>
        <p:txBody>
          <a:bodyPr wrap="square" rtlCol="0">
            <a:spAutoFit/>
          </a:bodyPr>
          <a:lstStyle/>
          <a:p>
            <a:r>
              <a:rPr lang="en-US" sz="1600" dirty="0"/>
              <a:t> Group Members  </a:t>
            </a:r>
            <a:endParaRPr lang="en-GB" sz="1600" dirty="0"/>
          </a:p>
        </p:txBody>
      </p:sp>
      <p:sp>
        <p:nvSpPr>
          <p:cNvPr id="4" name="Google Shape;349;p30"/>
          <p:cNvSpPr/>
          <p:nvPr/>
        </p:nvSpPr>
        <p:spPr>
          <a:xfrm>
            <a:off x="0" y="0"/>
            <a:ext cx="9144000" cy="5143500"/>
          </a:xfrm>
          <a:prstGeom prst="rect">
            <a:avLst/>
          </a:prstGeom>
          <a:solidFill>
            <a:srgbClr val="F8FAFC"/>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 name="Google Shape;350;p30"/>
          <p:cNvSpPr/>
          <p:nvPr/>
        </p:nvSpPr>
        <p:spPr>
          <a:xfrm>
            <a:off x="314325" y="228600"/>
            <a:ext cx="8515500" cy="533400"/>
          </a:xfrm>
          <a:prstGeom prst="rect">
            <a:avLst/>
          </a:prstGeom>
          <a:solidFill>
            <a:srgbClr val="6AA84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 name="Google Shape;351;p30"/>
          <p:cNvSpPr txBox="1"/>
          <p:nvPr/>
        </p:nvSpPr>
        <p:spPr>
          <a:xfrm>
            <a:off x="504825" y="228600"/>
            <a:ext cx="8134500" cy="533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r>
              <a:rPr lang="en" sz="2200" b="1" i="0">
                <a:solidFill>
                  <a:srgbClr val="FFFFFF"/>
                </a:solidFill>
                <a:latin typeface="Times New Roman"/>
                <a:ea typeface="Times New Roman"/>
                <a:cs typeface="Times New Roman"/>
                <a:sym typeface="Times New Roman"/>
              </a:rPr>
              <a:t>Subgroup 5</a:t>
            </a:r>
            <a:endParaRPr sz="2200" b="1" i="0">
              <a:solidFill>
                <a:srgbClr val="FFFFFF"/>
              </a:solidFill>
              <a:latin typeface="Times New Roman"/>
              <a:ea typeface="Times New Roman"/>
              <a:cs typeface="Times New Roman"/>
              <a:sym typeface="Times New Roman"/>
            </a:endParaRPr>
          </a:p>
        </p:txBody>
      </p:sp>
      <p:grpSp>
        <p:nvGrpSpPr>
          <p:cNvPr id="9" name="Google Shape;352;p30"/>
          <p:cNvGrpSpPr/>
          <p:nvPr/>
        </p:nvGrpSpPr>
        <p:grpSpPr>
          <a:xfrm>
            <a:off x="314325" y="914400"/>
            <a:ext cx="4143300" cy="609600"/>
            <a:chOff x="0" y="0"/>
            <a:chExt cx="4143300" cy="609600"/>
          </a:xfrm>
        </p:grpSpPr>
        <p:sp>
          <p:nvSpPr>
            <p:cNvPr id="10" name="Google Shape;353;p30"/>
            <p:cNvSpPr/>
            <p:nvPr/>
          </p:nvSpPr>
          <p:spPr>
            <a:xfrm>
              <a:off x="0" y="0"/>
              <a:ext cx="4143300" cy="609600"/>
            </a:xfrm>
            <a:prstGeom prst="rect">
              <a:avLst/>
            </a:prstGeom>
            <a:solidFill>
              <a:srgbClr val="FFFBEB"/>
            </a:solidFill>
            <a:ln w="14300" cap="flat" cmpd="sng">
              <a:solidFill>
                <a:srgbClr val="F59E0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 name="Google Shape;354;p30"/>
            <p:cNvSpPr/>
            <p:nvPr/>
          </p:nvSpPr>
          <p:spPr>
            <a:xfrm>
              <a:off x="114300" y="190500"/>
              <a:ext cx="228600" cy="200100"/>
            </a:xfrm>
            <a:custGeom>
              <a:avLst/>
              <a:gdLst/>
              <a:ahLst/>
              <a:cxnLst/>
              <a:rect l="l" t="t" r="r" b="b"/>
              <a:pathLst>
                <a:path w="120000" h="120000" extrusionOk="0">
                  <a:moveTo>
                    <a:pt x="60000" y="0"/>
                  </a:moveTo>
                  <a:lnTo>
                    <a:pt x="80000" y="45714"/>
                  </a:lnTo>
                  <a:lnTo>
                    <a:pt x="120000" y="45714"/>
                  </a:lnTo>
                  <a:lnTo>
                    <a:pt x="90000" y="74286"/>
                  </a:lnTo>
                  <a:lnTo>
                    <a:pt x="100000" y="120000"/>
                  </a:lnTo>
                  <a:lnTo>
                    <a:pt x="60000" y="91429"/>
                  </a:lnTo>
                  <a:lnTo>
                    <a:pt x="20000" y="120000"/>
                  </a:lnTo>
                  <a:lnTo>
                    <a:pt x="30000" y="74286"/>
                  </a:lnTo>
                  <a:lnTo>
                    <a:pt x="0" y="45714"/>
                  </a:lnTo>
                  <a:lnTo>
                    <a:pt x="40000" y="45714"/>
                  </a:lnTo>
                  <a:close/>
                </a:path>
              </a:pathLst>
            </a:cu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2" name="Google Shape;355;p30"/>
            <p:cNvSpPr txBox="1"/>
            <p:nvPr/>
          </p:nvSpPr>
          <p:spPr>
            <a:xfrm>
              <a:off x="495300" y="0"/>
              <a:ext cx="26670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Nebiyu Solomon Abebaw</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CTC-1581-26</a:t>
              </a:r>
              <a:endParaRPr sz="1050" b="0">
                <a:solidFill>
                  <a:srgbClr val="64748B"/>
                </a:solidFill>
                <a:latin typeface="Times New Roman"/>
                <a:ea typeface="Times New Roman"/>
                <a:cs typeface="Times New Roman"/>
                <a:sym typeface="Times New Roman"/>
              </a:endParaRPr>
            </a:p>
          </p:txBody>
        </p:sp>
        <p:sp>
          <p:nvSpPr>
            <p:cNvPr id="13" name="Google Shape;356;p30"/>
            <p:cNvSpPr txBox="1"/>
            <p:nvPr/>
          </p:nvSpPr>
          <p:spPr>
            <a:xfrm>
              <a:off x="3238500" y="0"/>
              <a:ext cx="762000" cy="6096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900" b="1">
                  <a:solidFill>
                    <a:srgbClr val="D97706"/>
                  </a:solidFill>
                  <a:latin typeface="Times New Roman"/>
                  <a:ea typeface="Times New Roman"/>
                  <a:cs typeface="Times New Roman"/>
                  <a:sym typeface="Times New Roman"/>
                </a:rPr>
                <a:t>LEADER</a:t>
              </a:r>
              <a:endParaRPr sz="900" b="1">
                <a:solidFill>
                  <a:srgbClr val="D97706"/>
                </a:solidFill>
                <a:latin typeface="Times New Roman"/>
                <a:ea typeface="Times New Roman"/>
                <a:cs typeface="Times New Roman"/>
                <a:sym typeface="Times New Roman"/>
              </a:endParaRPr>
            </a:p>
          </p:txBody>
        </p:sp>
      </p:grpSp>
      <p:grpSp>
        <p:nvGrpSpPr>
          <p:cNvPr id="14" name="Google Shape;357;p30"/>
          <p:cNvGrpSpPr/>
          <p:nvPr/>
        </p:nvGrpSpPr>
        <p:grpSpPr>
          <a:xfrm>
            <a:off x="4686300" y="914400"/>
            <a:ext cx="4143300" cy="609600"/>
            <a:chOff x="0" y="0"/>
            <a:chExt cx="4143300" cy="609600"/>
          </a:xfrm>
        </p:grpSpPr>
        <p:sp>
          <p:nvSpPr>
            <p:cNvPr id="15" name="Google Shape;358;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 name="Google Shape;359;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Lijfikru Belete Wagaye</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CTC-3088-26</a:t>
              </a:r>
              <a:endParaRPr sz="1050" b="0">
                <a:solidFill>
                  <a:srgbClr val="64748B"/>
                </a:solidFill>
                <a:latin typeface="Times New Roman"/>
                <a:ea typeface="Times New Roman"/>
                <a:cs typeface="Times New Roman"/>
                <a:sym typeface="Times New Roman"/>
              </a:endParaRPr>
            </a:p>
          </p:txBody>
        </p:sp>
      </p:grpSp>
      <p:grpSp>
        <p:nvGrpSpPr>
          <p:cNvPr id="17" name="Google Shape;360;p30"/>
          <p:cNvGrpSpPr/>
          <p:nvPr/>
        </p:nvGrpSpPr>
        <p:grpSpPr>
          <a:xfrm>
            <a:off x="314325" y="1638300"/>
            <a:ext cx="4143300" cy="609600"/>
            <a:chOff x="0" y="0"/>
            <a:chExt cx="4143300" cy="609600"/>
          </a:xfrm>
        </p:grpSpPr>
        <p:sp>
          <p:nvSpPr>
            <p:cNvPr id="18" name="Google Shape;361;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9" name="Google Shape;362;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dirty="0">
                  <a:solidFill>
                    <a:srgbClr val="0F172A"/>
                  </a:solidFill>
                  <a:latin typeface="Times New Roman"/>
                  <a:ea typeface="Times New Roman"/>
                  <a:cs typeface="Times New Roman"/>
                  <a:sym typeface="Times New Roman"/>
                </a:rPr>
                <a:t>Surafel  </a:t>
              </a:r>
              <a:r>
                <a:rPr lang="en" sz="1150" b="1" dirty="0" smtClean="0">
                  <a:solidFill>
                    <a:srgbClr val="0F172A"/>
                  </a:solidFill>
                  <a:latin typeface="Times New Roman"/>
                  <a:ea typeface="Times New Roman"/>
                  <a:cs typeface="Times New Roman"/>
                  <a:sym typeface="Times New Roman"/>
                </a:rPr>
                <a:t>bzuneh  Tolcha</a:t>
              </a:r>
              <a:endParaRPr sz="1150" b="1" dirty="0">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dirty="0" smtClean="0">
                  <a:solidFill>
                    <a:srgbClr val="64748B"/>
                  </a:solidFill>
                  <a:latin typeface="Times New Roman"/>
                  <a:ea typeface="Times New Roman"/>
                  <a:cs typeface="Times New Roman"/>
                  <a:sym typeface="Times New Roman"/>
                </a:rPr>
                <a:t>CTC-503-26</a:t>
              </a:r>
              <a:endParaRPr sz="1050" b="0" dirty="0">
                <a:solidFill>
                  <a:srgbClr val="64748B"/>
                </a:solidFill>
                <a:latin typeface="Times New Roman"/>
                <a:ea typeface="Times New Roman"/>
                <a:cs typeface="Times New Roman"/>
                <a:sym typeface="Times New Roman"/>
              </a:endParaRPr>
            </a:p>
          </p:txBody>
        </p:sp>
      </p:grpSp>
      <p:grpSp>
        <p:nvGrpSpPr>
          <p:cNvPr id="20" name="Google Shape;363;p30"/>
          <p:cNvGrpSpPr/>
          <p:nvPr/>
        </p:nvGrpSpPr>
        <p:grpSpPr>
          <a:xfrm>
            <a:off x="4686300" y="1638300"/>
            <a:ext cx="4143300" cy="609600"/>
            <a:chOff x="0" y="0"/>
            <a:chExt cx="4143300" cy="609600"/>
          </a:xfrm>
        </p:grpSpPr>
        <p:sp>
          <p:nvSpPr>
            <p:cNvPr id="21" name="Google Shape;364;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2" name="Google Shape;365;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Ananya Melkamu Tessema</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CTC-2847-26</a:t>
              </a:r>
              <a:endParaRPr sz="1050" b="0">
                <a:solidFill>
                  <a:srgbClr val="64748B"/>
                </a:solidFill>
                <a:latin typeface="Times New Roman"/>
                <a:ea typeface="Times New Roman"/>
                <a:cs typeface="Times New Roman"/>
                <a:sym typeface="Times New Roman"/>
              </a:endParaRPr>
            </a:p>
          </p:txBody>
        </p:sp>
      </p:grpSp>
      <p:grpSp>
        <p:nvGrpSpPr>
          <p:cNvPr id="23" name="Google Shape;366;p30"/>
          <p:cNvGrpSpPr/>
          <p:nvPr/>
        </p:nvGrpSpPr>
        <p:grpSpPr>
          <a:xfrm>
            <a:off x="314325" y="2362200"/>
            <a:ext cx="4143300" cy="609600"/>
            <a:chOff x="0" y="0"/>
            <a:chExt cx="4143300" cy="609600"/>
          </a:xfrm>
        </p:grpSpPr>
        <p:sp>
          <p:nvSpPr>
            <p:cNvPr id="24" name="Google Shape;367;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5" name="Google Shape;368;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Salahadin Hassen Haji</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CTC-4441-26</a:t>
              </a:r>
              <a:endParaRPr sz="1050" b="0">
                <a:solidFill>
                  <a:srgbClr val="64748B"/>
                </a:solidFill>
                <a:latin typeface="Times New Roman"/>
                <a:ea typeface="Times New Roman"/>
                <a:cs typeface="Times New Roman"/>
                <a:sym typeface="Times New Roman"/>
              </a:endParaRPr>
            </a:p>
          </p:txBody>
        </p:sp>
      </p:grpSp>
      <p:grpSp>
        <p:nvGrpSpPr>
          <p:cNvPr id="26" name="Google Shape;369;p30"/>
          <p:cNvGrpSpPr/>
          <p:nvPr/>
        </p:nvGrpSpPr>
        <p:grpSpPr>
          <a:xfrm>
            <a:off x="4686300" y="2362200"/>
            <a:ext cx="4143300" cy="609600"/>
            <a:chOff x="0" y="0"/>
            <a:chExt cx="4143300" cy="609600"/>
          </a:xfrm>
        </p:grpSpPr>
        <p:sp>
          <p:nvSpPr>
            <p:cNvPr id="27" name="Google Shape;370;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8" name="Google Shape;371;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dirty="0">
                  <a:solidFill>
                    <a:srgbClr val="0F172A"/>
                  </a:solidFill>
                  <a:latin typeface="Times New Roman"/>
                  <a:ea typeface="Times New Roman"/>
                  <a:cs typeface="Times New Roman"/>
                  <a:sym typeface="Times New Roman"/>
                </a:rPr>
                <a:t>Yodahe Leykun Assefa</a:t>
              </a:r>
              <a:endParaRPr sz="1150" b="1" dirty="0">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dirty="0">
                  <a:solidFill>
                    <a:srgbClr val="64748B"/>
                  </a:solidFill>
                  <a:latin typeface="Times New Roman"/>
                  <a:ea typeface="Times New Roman"/>
                  <a:cs typeface="Times New Roman"/>
                  <a:sym typeface="Times New Roman"/>
                </a:rPr>
                <a:t>CTC-119-26</a:t>
              </a:r>
              <a:endParaRPr sz="1050" b="0" dirty="0">
                <a:solidFill>
                  <a:srgbClr val="64748B"/>
                </a:solidFill>
                <a:latin typeface="Times New Roman"/>
                <a:ea typeface="Times New Roman"/>
                <a:cs typeface="Times New Roman"/>
                <a:sym typeface="Times New Roman"/>
              </a:endParaRPr>
            </a:p>
          </p:txBody>
        </p:sp>
      </p:grpSp>
      <p:grpSp>
        <p:nvGrpSpPr>
          <p:cNvPr id="29" name="Google Shape;372;p30"/>
          <p:cNvGrpSpPr/>
          <p:nvPr/>
        </p:nvGrpSpPr>
        <p:grpSpPr>
          <a:xfrm>
            <a:off x="314325" y="3086100"/>
            <a:ext cx="4143300" cy="609600"/>
            <a:chOff x="0" y="0"/>
            <a:chExt cx="4143300" cy="609600"/>
          </a:xfrm>
        </p:grpSpPr>
        <p:sp>
          <p:nvSpPr>
            <p:cNvPr id="30" name="Google Shape;373;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1" name="Google Shape;374;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Elbetel Taye Ladankilet</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CTC-1610-26</a:t>
              </a:r>
              <a:endParaRPr sz="1050" b="0">
                <a:solidFill>
                  <a:srgbClr val="64748B"/>
                </a:solidFill>
                <a:latin typeface="Times New Roman"/>
                <a:ea typeface="Times New Roman"/>
                <a:cs typeface="Times New Roman"/>
                <a:sym typeface="Times New Roman"/>
              </a:endParaRPr>
            </a:p>
          </p:txBody>
        </p:sp>
      </p:grpSp>
      <p:grpSp>
        <p:nvGrpSpPr>
          <p:cNvPr id="32" name="Google Shape;375;p30"/>
          <p:cNvGrpSpPr/>
          <p:nvPr/>
        </p:nvGrpSpPr>
        <p:grpSpPr>
          <a:xfrm>
            <a:off x="4686300" y="3086100"/>
            <a:ext cx="4143300" cy="609600"/>
            <a:chOff x="0" y="0"/>
            <a:chExt cx="4143300" cy="609600"/>
          </a:xfrm>
        </p:grpSpPr>
        <p:sp>
          <p:nvSpPr>
            <p:cNvPr id="33" name="Google Shape;376;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 name="Google Shape;377;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Mekfira Abdulkadir Sherif</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CTC-1837-26</a:t>
              </a:r>
              <a:endParaRPr sz="1050" b="0">
                <a:solidFill>
                  <a:srgbClr val="64748B"/>
                </a:solidFill>
                <a:latin typeface="Times New Roman"/>
                <a:ea typeface="Times New Roman"/>
                <a:cs typeface="Times New Roman"/>
                <a:sym typeface="Times New Roman"/>
              </a:endParaRPr>
            </a:p>
          </p:txBody>
        </p:sp>
      </p:grpSp>
      <p:grpSp>
        <p:nvGrpSpPr>
          <p:cNvPr id="35" name="Google Shape;378;p30"/>
          <p:cNvGrpSpPr/>
          <p:nvPr/>
        </p:nvGrpSpPr>
        <p:grpSpPr>
          <a:xfrm>
            <a:off x="314325" y="3810000"/>
            <a:ext cx="4143300" cy="609600"/>
            <a:chOff x="0" y="0"/>
            <a:chExt cx="4143300" cy="609600"/>
          </a:xfrm>
        </p:grpSpPr>
        <p:sp>
          <p:nvSpPr>
            <p:cNvPr id="36" name="Google Shape;379;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7" name="Google Shape;380;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Adonay Tetemke Fiseha</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CTC-7358-26</a:t>
              </a:r>
              <a:endParaRPr sz="1050" b="0">
                <a:solidFill>
                  <a:srgbClr val="64748B"/>
                </a:solidFill>
                <a:latin typeface="Times New Roman"/>
                <a:ea typeface="Times New Roman"/>
                <a:cs typeface="Times New Roman"/>
                <a:sym typeface="Times New Roman"/>
              </a:endParaRPr>
            </a:p>
          </p:txBody>
        </p:sp>
      </p:grpSp>
      <p:grpSp>
        <p:nvGrpSpPr>
          <p:cNvPr id="38" name="Google Shape;381;p30"/>
          <p:cNvGrpSpPr/>
          <p:nvPr/>
        </p:nvGrpSpPr>
        <p:grpSpPr>
          <a:xfrm>
            <a:off x="4686300" y="3810000"/>
            <a:ext cx="4143300" cy="609600"/>
            <a:chOff x="0" y="0"/>
            <a:chExt cx="4143300" cy="609600"/>
          </a:xfrm>
        </p:grpSpPr>
        <p:sp>
          <p:nvSpPr>
            <p:cNvPr id="39" name="Google Shape;382;p30"/>
            <p:cNvSpPr/>
            <p:nvPr/>
          </p:nvSpPr>
          <p:spPr>
            <a:xfrm>
              <a:off x="0" y="0"/>
              <a:ext cx="4143300" cy="609600"/>
            </a:xfrm>
            <a:prstGeom prst="rect">
              <a:avLst/>
            </a:prstGeom>
            <a:solidFill>
              <a:srgbClr val="FFFFFF"/>
            </a:solidFill>
            <a:ln w="114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 name="Google Shape;383;p30"/>
            <p:cNvSpPr txBox="1"/>
            <p:nvPr/>
          </p:nvSpPr>
          <p:spPr>
            <a:xfrm>
              <a:off x="190500" y="0"/>
              <a:ext cx="3619500" cy="60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50" b="1">
                  <a:solidFill>
                    <a:srgbClr val="0F172A"/>
                  </a:solidFill>
                  <a:latin typeface="Times New Roman"/>
                  <a:ea typeface="Times New Roman"/>
                  <a:cs typeface="Times New Roman"/>
                  <a:sym typeface="Times New Roman"/>
                </a:rPr>
                <a:t>Sifen Teshale</a:t>
              </a:r>
              <a:endParaRPr sz="1150" b="1">
                <a:solidFill>
                  <a:srgbClr val="0F172A"/>
                </a:solidFill>
                <a:latin typeface="Times New Roman"/>
                <a:ea typeface="Times New Roman"/>
                <a:cs typeface="Times New Roman"/>
                <a:sym typeface="Times New Roman"/>
              </a:endParaRPr>
            </a:p>
            <a:p>
              <a:pPr marL="0" lvl="0" indent="0" algn="l" rtl="0">
                <a:spcBef>
                  <a:spcPts val="0"/>
                </a:spcBef>
                <a:spcAft>
                  <a:spcPts val="0"/>
                </a:spcAft>
                <a:buNone/>
              </a:pPr>
              <a:r>
                <a:rPr lang="en" sz="1050" b="0">
                  <a:solidFill>
                    <a:srgbClr val="64748B"/>
                  </a:solidFill>
                  <a:latin typeface="Times New Roman"/>
                  <a:ea typeface="Times New Roman"/>
                  <a:cs typeface="Times New Roman"/>
                  <a:sym typeface="Times New Roman"/>
                </a:rPr>
                <a:t>CTC-10111-26</a:t>
              </a:r>
              <a:endParaRPr sz="1050" b="0">
                <a:solidFill>
                  <a:srgbClr val="64748B"/>
                </a:solidFill>
                <a:latin typeface="Times New Roman"/>
                <a:ea typeface="Times New Roman"/>
                <a:cs typeface="Times New Roman"/>
                <a:sym typeface="Times New Roman"/>
              </a:endParaRPr>
            </a:p>
          </p:txBody>
        </p:sp>
      </p:grpSp>
    </p:spTree>
    <p:extLst>
      <p:ext uri="{BB962C8B-B14F-4D97-AF65-F5344CB8AC3E}">
        <p14:creationId xmlns:p14="http://schemas.microsoft.com/office/powerpoint/2010/main" val="309462821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1864</Words>
  <Application>Microsoft Office PowerPoint</Application>
  <PresentationFormat>On-screen Show (16:9)</PresentationFormat>
  <Paragraphs>269</Paragraphs>
  <Slides>23</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Roboto</vt:lpstr>
      <vt:lpstr>Times New Roman</vt:lpstr>
      <vt:lpstr>Simple Light</vt:lpstr>
      <vt:lpstr>Project Overview </vt:lpstr>
      <vt:lpstr>Mission &amp; Design Objectives </vt:lpstr>
      <vt:lpstr>Design Requirements </vt:lpstr>
      <vt:lpstr>Overall UAV Concept </vt:lpstr>
      <vt:lpstr>Propulsion System</vt:lpstr>
      <vt:lpstr>Power &amp; Energy System </vt:lpstr>
      <vt:lpstr>Flight Performance</vt:lpstr>
      <vt:lpstr>Avionics System</vt:lpstr>
      <vt:lpstr>Navigation &amp; Autonomous Flight</vt:lpstr>
      <vt:lpstr>Sensors &amp; State Estimation</vt:lpstr>
      <vt:lpstr>Agricultural Spraying System </vt:lpstr>
      <vt:lpstr>Precision Spraying</vt:lpstr>
      <vt:lpstr>Safety and reliability</vt:lpstr>
      <vt:lpstr>System Architecture</vt:lpstr>
      <vt:lpstr>Data &amp; Control Flow</vt:lpstr>
      <vt:lpstr>Integrated 3D Design</vt:lpstr>
      <vt:lpstr>3D Design &amp; Airframe Layout</vt:lpstr>
      <vt:lpstr> </vt:lpstr>
      <vt:lpstr>Simulation &amp; Validation</vt:lpstr>
      <vt:lpstr>Results </vt:lpstr>
      <vt:lpstr>Conclusion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Overview </dc:title>
  <cp:lastModifiedBy>Windows User</cp:lastModifiedBy>
  <cp:revision>4</cp:revision>
  <dcterms:modified xsi:type="dcterms:W3CDTF">2026-10-28T08:54:22Z</dcterms:modified>
</cp:coreProperties>
</file>